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D599-2755-4E5F-925C-E3531E7D5A7A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4887-9661-4882-94CB-D4C6708FF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693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D599-2755-4E5F-925C-E3531E7D5A7A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4887-9661-4882-94CB-D4C6708FF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056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D599-2755-4E5F-925C-E3531E7D5A7A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4887-9661-4882-94CB-D4C6708FF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556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D599-2755-4E5F-925C-E3531E7D5A7A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4887-9661-4882-94CB-D4C6708FF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4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D599-2755-4E5F-925C-E3531E7D5A7A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4887-9661-4882-94CB-D4C6708FF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33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D599-2755-4E5F-925C-E3531E7D5A7A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4887-9661-4882-94CB-D4C6708FF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963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D599-2755-4E5F-925C-E3531E7D5A7A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4887-9661-4882-94CB-D4C6708FF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883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D599-2755-4E5F-925C-E3531E7D5A7A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4887-9661-4882-94CB-D4C6708FF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D599-2755-4E5F-925C-E3531E7D5A7A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4887-9661-4882-94CB-D4C6708FF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468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D599-2755-4E5F-925C-E3531E7D5A7A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4887-9661-4882-94CB-D4C6708FF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717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D599-2755-4E5F-925C-E3531E7D5A7A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4887-9661-4882-94CB-D4C6708FF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1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6000">
              <a:schemeClr val="bg1"/>
            </a:gs>
            <a:gs pos="84000">
              <a:schemeClr val="accent1">
                <a:lumMod val="40000"/>
                <a:lumOff val="60000"/>
              </a:schemeClr>
            </a:gs>
            <a:gs pos="100000">
              <a:srgbClr val="0070C0">
                <a:alpha val="46000"/>
              </a:srgbClr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5D599-2755-4E5F-925C-E3531E7D5A7A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74887-9661-4882-94CB-D4C6708FF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26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i="1" dirty="0" smtClean="0"/>
              <a:t>Методы оптимизации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/>
              <a:t>Лекция 2. Экстремум неявно заданной функции. Условный экстремум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045128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31504" y="116632"/>
            <a:ext cx="8928992" cy="576064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Экстремум неявно заданной </a:t>
            </a:r>
            <a:r>
              <a:rPr lang="ru-RU" sz="3600" b="1" dirty="0"/>
              <a:t>функции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31504" y="836712"/>
            <a:ext cx="8928992" cy="5904656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/>
              <a:t>Пусть уравнение </a:t>
            </a:r>
            <a:r>
              <a:rPr lang="en-US" sz="2400" i="1" dirty="0"/>
              <a:t>F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dirty="0"/>
              <a:t>;</a:t>
            </a:r>
            <a:r>
              <a:rPr lang="en-US" sz="2400" i="1" dirty="0"/>
              <a:t>y</a:t>
            </a:r>
            <a:r>
              <a:rPr lang="ru-RU" sz="2400" dirty="0"/>
              <a:t>;</a:t>
            </a:r>
            <a:r>
              <a:rPr lang="en-US" sz="2400" i="1" dirty="0"/>
              <a:t>z</a:t>
            </a:r>
            <a:r>
              <a:rPr lang="ru-RU" sz="2400" dirty="0"/>
              <a:t>)=0 задает неявно функцию </a:t>
            </a:r>
            <a:r>
              <a:rPr lang="en-US" sz="2400" i="1" dirty="0"/>
              <a:t>z</a:t>
            </a:r>
            <a:r>
              <a:rPr lang="ru-RU" sz="2400" dirty="0"/>
              <a:t>=</a:t>
            </a:r>
            <a:r>
              <a:rPr lang="en-US" sz="2400" i="1" dirty="0"/>
              <a:t>f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dirty="0"/>
              <a:t>;</a:t>
            </a:r>
            <a:r>
              <a:rPr lang="en-US" sz="2400" i="1" dirty="0"/>
              <a:t>y</a:t>
            </a:r>
            <a:r>
              <a:rPr lang="ru-RU" sz="2400" dirty="0"/>
              <a:t>). Пусть функция </a:t>
            </a:r>
            <a:r>
              <a:rPr lang="en-US" sz="2400" dirty="0"/>
              <a:t>z</a:t>
            </a:r>
            <a:r>
              <a:rPr lang="ru-RU" sz="2400" dirty="0"/>
              <a:t> дважды непрерывно дифференцируема в R</a:t>
            </a:r>
            <a:r>
              <a:rPr lang="ru-RU" sz="2400" baseline="30000" dirty="0"/>
              <a:t>2</a:t>
            </a:r>
            <a:r>
              <a:rPr lang="ru-RU" sz="2400" dirty="0"/>
              <a:t>. Если (</a:t>
            </a:r>
            <a:r>
              <a:rPr lang="ru-RU" sz="2400" i="1" dirty="0"/>
              <a:t>х</a:t>
            </a:r>
            <a:r>
              <a:rPr lang="ru-RU" sz="2400" baseline="-25000" dirty="0"/>
              <a:t>0</a:t>
            </a:r>
            <a:r>
              <a:rPr lang="ru-RU" sz="2400" dirty="0"/>
              <a:t>;</a:t>
            </a:r>
            <a:r>
              <a:rPr lang="ru-RU" sz="2400" i="1" dirty="0"/>
              <a:t>у</a:t>
            </a:r>
            <a:r>
              <a:rPr lang="ru-RU" sz="2400" baseline="-25000" dirty="0"/>
              <a:t>0</a:t>
            </a:r>
            <a:r>
              <a:rPr lang="ru-RU" sz="2400" dirty="0"/>
              <a:t>) – стационарная точка, то в ней выполнены равенства</a:t>
            </a:r>
            <a:r>
              <a:rPr lang="ru-RU" sz="2400" dirty="0"/>
              <a:t>: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 smtClean="0"/>
              <a:t>Очевидно</a:t>
            </a:r>
            <a:r>
              <a:rPr lang="ru-RU" sz="2400" dirty="0"/>
              <a:t>, верно и обратное утверждение. </a:t>
            </a:r>
            <a:r>
              <a:rPr lang="ru-RU" sz="2400" dirty="0"/>
              <a:t>Следовательно, стационарные точки неявной функции могут быть найдены из системы: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Достаточное условие формулируется так же, как в случае явного задания функции.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652" y="1940927"/>
            <a:ext cx="5296806" cy="1378446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80" y="4201860"/>
            <a:ext cx="1927727" cy="138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76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576064"/>
          </a:xfrm>
        </p:spPr>
        <p:txBody>
          <a:bodyPr>
            <a:noAutofit/>
          </a:bodyPr>
          <a:lstStyle/>
          <a:p>
            <a:r>
              <a:rPr lang="ru-RU" sz="3600" b="1" dirty="0"/>
              <a:t>Экстремум неявно заданной функции</a:t>
            </a:r>
            <a:endParaRPr lang="ru-RU" sz="3600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528" y="692696"/>
            <a:ext cx="8574637" cy="18002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962" y="2483572"/>
            <a:ext cx="8539535" cy="81723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680" y="3286410"/>
            <a:ext cx="5760641" cy="141615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4000" y="4741291"/>
            <a:ext cx="8335456" cy="73785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9221" y="5477038"/>
            <a:ext cx="5513556" cy="68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9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576064"/>
          </a:xfrm>
        </p:spPr>
        <p:txBody>
          <a:bodyPr>
            <a:noAutofit/>
          </a:bodyPr>
          <a:lstStyle/>
          <a:p>
            <a:r>
              <a:rPr lang="ru-RU" sz="3600" b="1" dirty="0"/>
              <a:t>Экстремум неявно заданной функции</a:t>
            </a:r>
            <a:endParaRPr lang="ru-RU" sz="3600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5534" y="836712"/>
            <a:ext cx="8400933" cy="72008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673" y="1916833"/>
            <a:ext cx="4600653" cy="118261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512" y="3493051"/>
            <a:ext cx="8850676" cy="8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3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3512" y="116632"/>
            <a:ext cx="8856984" cy="576064"/>
          </a:xfrm>
        </p:spPr>
        <p:txBody>
          <a:bodyPr>
            <a:noAutofit/>
          </a:bodyPr>
          <a:lstStyle/>
          <a:p>
            <a:r>
              <a:rPr lang="ru-RU" sz="3200" b="1" dirty="0"/>
              <a:t>Экстремум неявно заданной функции</a:t>
            </a:r>
            <a:r>
              <a:rPr lang="en-US" sz="3200" b="1" dirty="0"/>
              <a:t>. </a:t>
            </a:r>
            <a:r>
              <a:rPr lang="ru-RU" sz="3200" b="1" dirty="0"/>
              <a:t>Пример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479" y="836712"/>
            <a:ext cx="8882637" cy="58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3512" y="116632"/>
            <a:ext cx="8856984" cy="576064"/>
          </a:xfrm>
        </p:spPr>
        <p:txBody>
          <a:bodyPr>
            <a:noAutofit/>
          </a:bodyPr>
          <a:lstStyle/>
          <a:p>
            <a:r>
              <a:rPr lang="ru-RU" sz="3200" b="1" dirty="0"/>
              <a:t>Экстремум неявно заданной функции</a:t>
            </a:r>
            <a:r>
              <a:rPr lang="en-US" sz="3200" b="1" dirty="0"/>
              <a:t>. </a:t>
            </a:r>
            <a:r>
              <a:rPr lang="ru-RU" sz="3200" b="1" dirty="0"/>
              <a:t>Пример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070" y="692696"/>
            <a:ext cx="8935868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6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3512" y="116632"/>
            <a:ext cx="8856984" cy="576064"/>
          </a:xfrm>
        </p:spPr>
        <p:txBody>
          <a:bodyPr>
            <a:noAutofit/>
          </a:bodyPr>
          <a:lstStyle/>
          <a:p>
            <a:r>
              <a:rPr lang="ru-RU" sz="3200" b="1" dirty="0"/>
              <a:t>Экстремум неявно заданной функции</a:t>
            </a:r>
            <a:r>
              <a:rPr lang="en-US" sz="3200" b="1" dirty="0"/>
              <a:t>. </a:t>
            </a:r>
            <a:r>
              <a:rPr lang="ru-RU" sz="3200" b="1" dirty="0"/>
              <a:t>Пример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8307" y="686354"/>
            <a:ext cx="8407394" cy="610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56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i="1" dirty="0"/>
              <a:t>Условный экстремум функции двух переменных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i="1" dirty="0"/>
              <a:t>Определение 6.</a:t>
            </a:r>
            <a:r>
              <a:rPr lang="ru-RU" dirty="0"/>
              <a:t> Условным экстремумом функции z = f(x; y) называется экстремум этой функции, достигнутый при условии, что переменные x и y связаны уравнением </a:t>
            </a:r>
            <a:endParaRPr lang="en-US" dirty="0"/>
          </a:p>
          <a:p>
            <a:pPr marL="0" indent="0" algn="ctr">
              <a:buNone/>
            </a:pPr>
            <a:r>
              <a:rPr lang="ru-RU" dirty="0">
                <a:sym typeface="Symbol"/>
              </a:rPr>
              <a:t></a:t>
            </a:r>
            <a:r>
              <a:rPr lang="ru-RU" dirty="0"/>
              <a:t>(x; y) = 0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(</a:t>
            </a:r>
            <a:r>
              <a:rPr lang="ru-RU" dirty="0"/>
              <a:t>уравнение связи).</a:t>
            </a:r>
          </a:p>
          <a:p>
            <a:pPr marL="0" indent="0">
              <a:buNone/>
            </a:pPr>
            <a:r>
              <a:rPr lang="ru-RU" dirty="0"/>
              <a:t>Отыскание условного экстремума функции z = f(x; y)  можно свести к исследованию на обычный экстремум </a:t>
            </a:r>
            <a:r>
              <a:rPr lang="ru-RU" b="1" i="1" dirty="0"/>
              <a:t>функции Лагранжа</a:t>
            </a:r>
            <a:r>
              <a:rPr lang="ru-RU" b="1" dirty="0"/>
              <a:t>                          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    </a:t>
            </a:r>
            <a:r>
              <a:rPr lang="ru-RU" dirty="0"/>
              <a:t>u = f(x; y) + </a:t>
            </a:r>
            <a:r>
              <a:rPr lang="ru-RU" dirty="0">
                <a:sym typeface="Symbol"/>
              </a:rPr>
              <a:t></a:t>
            </a:r>
            <a:r>
              <a:rPr lang="ru-RU" dirty="0"/>
              <a:t>(x; y), где </a:t>
            </a:r>
            <a:r>
              <a:rPr lang="ru-RU" dirty="0">
                <a:sym typeface="Symbol"/>
              </a:rPr>
              <a:t></a:t>
            </a:r>
            <a:r>
              <a:rPr lang="ru-RU" dirty="0"/>
              <a:t> </a:t>
            </a:r>
            <a:r>
              <a:rPr lang="ru-RU" dirty="0">
                <a:sym typeface="Symbol"/>
              </a:rPr>
              <a:t></a:t>
            </a:r>
            <a:r>
              <a:rPr lang="ru-RU" dirty="0"/>
              <a:t> неопределенный постоянный множитель.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852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1200" y="476672"/>
            <a:ext cx="8229600" cy="6048672"/>
          </a:xfrm>
        </p:spPr>
        <p:txBody>
          <a:bodyPr/>
          <a:lstStyle/>
          <a:p>
            <a:pPr marL="0" indent="0">
              <a:buNone/>
            </a:pPr>
            <a:r>
              <a:rPr lang="ru-RU" b="1" i="1" dirty="0"/>
              <a:t>Необходимые условия</a:t>
            </a:r>
            <a:r>
              <a:rPr lang="ru-RU" dirty="0"/>
              <a:t> экстремума функции Лагранжа имеют вид</a:t>
            </a:r>
          </a:p>
          <a:p>
            <a:pPr marL="0" indent="0">
              <a:buNone/>
            </a:pPr>
            <a:r>
              <a:rPr lang="ru-RU" dirty="0"/>
              <a:t>             </a:t>
            </a:r>
            <a:r>
              <a:rPr lang="en-US" dirty="0"/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      </a:t>
            </a:r>
            <a:r>
              <a:rPr lang="en-US" dirty="0"/>
              <a:t>                                                              </a:t>
            </a:r>
            <a:r>
              <a:rPr lang="ru-RU" dirty="0"/>
              <a:t>(</a:t>
            </a:r>
            <a:r>
              <a:rPr lang="ru-RU" dirty="0"/>
              <a:t>15</a:t>
            </a:r>
            <a:r>
              <a:rPr lang="ru-RU" dirty="0"/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Из </a:t>
            </a:r>
            <a:r>
              <a:rPr lang="ru-RU" dirty="0"/>
              <a:t>этой системы трех уравнений находят x и y </a:t>
            </a:r>
            <a:r>
              <a:rPr lang="ru-RU" dirty="0">
                <a:sym typeface="Symbol"/>
              </a:rPr>
              <a:t></a:t>
            </a:r>
            <a:r>
              <a:rPr lang="ru-RU" dirty="0"/>
              <a:t> координаты точки, подозрительной на экстремум, и </a:t>
            </a:r>
            <a:r>
              <a:rPr lang="ru-RU" dirty="0">
                <a:sym typeface="Symbol"/>
              </a:rPr>
              <a:t>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1628800"/>
            <a:ext cx="3744416" cy="32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4862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404664"/>
                <a:ext cx="8229600" cy="61926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Достаточным условием, из которого можно выяснить характер экстремума, служит </a:t>
                </a:r>
                <a:r>
                  <a:rPr lang="ru-RU" dirty="0"/>
                  <a:t>знак</a:t>
                </a:r>
                <a:r>
                  <a:rPr lang="en-US" dirty="0"/>
                  <a:t> </a:t>
                </a:r>
                <a:r>
                  <a:rPr lang="ru-RU" dirty="0"/>
                  <a:t>дифференциала второго порядка</a:t>
                </a:r>
                <a:r>
                  <a:rPr lang="ru-RU" dirty="0"/>
                  <a:t> 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𝑢</m:t>
                    </m:r>
                    <m:r>
                      <a:rPr lang="ru-RU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ru-RU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ru-RU" i="1">
                        <a:latin typeface="Cambria Math"/>
                      </a:rPr>
                      <m:t>)=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𝑥𝑥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′′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𝑑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+2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𝑥𝑦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′′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𝑑𝑥𝑑𝑦</m:t>
                    </m:r>
                    <m:r>
                      <a:rPr lang="ru-RU" i="1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𝑦𝑦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′′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𝑑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         (16)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Если </a:t>
                </a:r>
                <a:r>
                  <a:rPr lang="ru-RU" dirty="0"/>
                  <a:t>в стационарной точке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𝑢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&gt;0, то функция z=f(</a:t>
                </a:r>
                <a:r>
                  <a:rPr lang="ru-RU" dirty="0" err="1"/>
                  <a:t>x,y</a:t>
                </a:r>
                <a:r>
                  <a:rPr lang="ru-RU" dirty="0"/>
                  <a:t>) имеет в данной точке условный минимум, если же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𝑢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&lt;0, то условный максимум. Причем, </a:t>
                </a:r>
                <a:r>
                  <a:rPr lang="en-US" dirty="0"/>
                  <a:t>                 </a:t>
                </a:r>
                <a:r>
                  <a:rPr lang="ru-RU" dirty="0"/>
                  <a:t> </a:t>
                </a:r>
                <a:r>
                  <a:rPr lang="ru-RU" dirty="0"/>
                  <a:t> связанны дифференциалом условия:</a:t>
                </a:r>
                <a:br>
                  <a:rPr lang="ru-RU" dirty="0"/>
                </a:b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04664"/>
                <a:ext cx="8229600" cy="6192688"/>
              </a:xfrm>
              <a:blipFill rotWithShape="1">
                <a:blip r:embed="rId2"/>
                <a:stretch>
                  <a:fillRect l="-1481" t="-886" r="-2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704" y="4448374"/>
            <a:ext cx="1172558" cy="517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5265204"/>
            <a:ext cx="4097668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445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332656"/>
                <a:ext cx="8229600" cy="626469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sz="3400" dirty="0"/>
                  <a:t>Есть и другой способ для определения характера экстремума. Из уравнения связи получаем: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3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400" i="1">
                              <a:latin typeface="Cambria Math"/>
                            </a:rPr>
                            <m:t>𝜑</m:t>
                          </m:r>
                        </m:e>
                        <m:sub>
                          <m:r>
                            <a:rPr lang="en-US" sz="3400" i="1">
                              <a:latin typeface="Cambria Math"/>
                            </a:rPr>
                            <m:t>𝑥</m:t>
                          </m:r>
                        </m:sub>
                        <m:sup>
                          <m:r>
                            <a:rPr lang="en-US" sz="3400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sz="3400" i="1">
                          <a:latin typeface="Cambria Math"/>
                        </a:rPr>
                        <m:t>𝑑𝑥</m:t>
                      </m:r>
                      <m:r>
                        <a:rPr lang="en-US" sz="3400" i="1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ru-RU" sz="3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400" i="1">
                              <a:latin typeface="Cambria Math"/>
                            </a:rPr>
                            <m:t>𝜑</m:t>
                          </m:r>
                        </m:e>
                        <m:sub>
                          <m:r>
                            <a:rPr lang="en-US" sz="3400" i="1">
                              <a:latin typeface="Cambria Math"/>
                            </a:rPr>
                            <m:t>𝑦</m:t>
                          </m:r>
                        </m:sub>
                        <m:sup>
                          <m:r>
                            <a:rPr lang="en-US" sz="3400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sz="3400" i="1">
                          <a:latin typeface="Cambria Math"/>
                        </a:rPr>
                        <m:t>𝑑𝑦</m:t>
                      </m:r>
                      <m:r>
                        <a:rPr lang="en-US" sz="34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ru-RU" sz="3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i="1">
                          <a:latin typeface="Cambria Math"/>
                        </a:rPr>
                        <m:t>𝑑𝑦</m:t>
                      </m:r>
                      <m:r>
                        <a:rPr lang="en-US" sz="3400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ru-RU" sz="3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ru-RU" sz="3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400" i="1">
                                  <a:latin typeface="Cambria Math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3400" i="1">
                                  <a:latin typeface="Cambria Math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3400" i="1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ru-RU" sz="3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400" i="1">
                                  <a:latin typeface="Cambria Math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3400" i="1">
                                  <a:latin typeface="Cambria Math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sz="3400" i="1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  <m:r>
                        <a:rPr lang="en-US" sz="3400" i="1">
                          <a:latin typeface="Cambria Math"/>
                        </a:rPr>
                        <m:t>𝑑𝑥</m:t>
                      </m:r>
                      <m:r>
                        <a:rPr lang="en-US" sz="3400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ru-RU" sz="3400" dirty="0"/>
              </a:p>
              <a:p>
                <a:pPr marL="0" indent="0">
                  <a:buNone/>
                </a:pPr>
                <a:r>
                  <a:rPr lang="ru-RU" sz="3400" dirty="0"/>
                  <a:t>поэтому в любой стационарной точке имеем: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𝑢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𝑥𝑥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𝑑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+2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𝑥𝑦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𝑑𝑥𝑑𝑦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𝑦𝑦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𝑑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𝑢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𝑥𝑥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𝑑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+2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𝑥𝑦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𝑑𝑥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i="1">
                              <a:latin typeface="Cambria Math"/>
                            </a:rPr>
                            <m:t>𝑑𝑥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𝑦𝑦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US" i="1">
                                  <a:latin typeface="Cambria Math"/>
                                </a:rPr>
                                <m:t>𝑑𝑥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/>
                        </a:rPr>
                        <m:t>∙(−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𝑥𝑥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+2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𝑥𝑦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𝑦𝑦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332656"/>
                <a:ext cx="8229600" cy="6264696"/>
              </a:xfrm>
              <a:blipFill rotWithShape="0">
                <a:blip r:embed="rId2"/>
                <a:stretch>
                  <a:fillRect l="-1778" t="-20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6786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260648"/>
                <a:ext cx="8229600" cy="633670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Второй сомножитель (расположенный в скобке) можно представить в такой форме: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𝑥𝑥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/>
                                    </a:rPr>
                                    <m:t>′′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𝑥𝑦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/>
                                    </a:rPr>
                                    <m:t>′′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𝑥𝑦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/>
                                    </a:rPr>
                                    <m:t>′′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𝑦𝑦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/>
                                    </a:rPr>
                                    <m:t>′′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/>
                  <a:t>           (17)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:r>
                  <a:rPr lang="ru-RU" dirty="0"/>
                  <a:t>Если H &gt; 0, то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𝑢</m:t>
                    </m:r>
                  </m:oMath>
                </a14:m>
                <a:r>
                  <a:rPr lang="ru-RU" dirty="0"/>
                  <a:t> &lt; 0, что указывает на условный максимум. Аналогично, при H &lt; 0 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𝑢</m:t>
                    </m:r>
                  </m:oMath>
                </a14:m>
                <a:r>
                  <a:rPr lang="ru-RU" dirty="0"/>
                  <a:t> &gt; 0, т.е. имеем условный минимум функции z = f(</a:t>
                </a:r>
                <a:r>
                  <a:rPr lang="ru-RU" dirty="0" err="1"/>
                  <a:t>x,y</a:t>
                </a:r>
                <a:r>
                  <a:rPr lang="ru-RU" dirty="0"/>
                  <a:t>).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60648"/>
                <a:ext cx="8229600" cy="6336704"/>
              </a:xfrm>
              <a:blipFill rotWithShape="1">
                <a:blip r:embed="rId2"/>
                <a:stretch>
                  <a:fillRect l="-1481" t="-8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8181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1200" y="260648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b="1" dirty="0"/>
              <a:t>Пример.</a:t>
            </a:r>
            <a:r>
              <a:rPr lang="ru-RU" sz="2600" dirty="0"/>
              <a:t> Найти экстремум функции z = </a:t>
            </a:r>
            <a:r>
              <a:rPr lang="ru-RU" sz="2600" dirty="0" err="1"/>
              <a:t>xy</a:t>
            </a:r>
            <a:r>
              <a:rPr lang="ru-RU" sz="2600" dirty="0"/>
              <a:t> при условии, что x и y связаны уравнением 2x + 3y </a:t>
            </a:r>
            <a:r>
              <a:rPr lang="ru-RU" sz="2600" dirty="0">
                <a:sym typeface="Symbol"/>
              </a:rPr>
              <a:t></a:t>
            </a:r>
            <a:r>
              <a:rPr lang="ru-RU" sz="2600" dirty="0"/>
              <a:t> 5 = 0.</a:t>
            </a:r>
          </a:p>
          <a:p>
            <a:pPr marL="0" indent="0">
              <a:buNone/>
            </a:pPr>
            <a:r>
              <a:rPr lang="ru-RU" sz="2600" u="sng" dirty="0"/>
              <a:t>Решение</a:t>
            </a:r>
            <a:r>
              <a:rPr lang="ru-RU" sz="2600" dirty="0"/>
              <a:t>. </a:t>
            </a:r>
            <a:endParaRPr lang="en-US" sz="2600" dirty="0"/>
          </a:p>
          <a:p>
            <a:pPr marL="0" indent="0">
              <a:buNone/>
            </a:pPr>
            <a:r>
              <a:rPr lang="ru-RU" sz="2600" dirty="0"/>
              <a:t>Рассмотрим </a:t>
            </a:r>
            <a:r>
              <a:rPr lang="ru-RU" sz="2600" dirty="0"/>
              <a:t>функцию Лагранжа u = </a:t>
            </a:r>
            <a:r>
              <a:rPr lang="ru-RU" sz="2600" dirty="0" err="1"/>
              <a:t>xy</a:t>
            </a:r>
            <a:r>
              <a:rPr lang="ru-RU" sz="2600" dirty="0"/>
              <a:t> + </a:t>
            </a:r>
            <a:r>
              <a:rPr lang="ru-RU" sz="2600" dirty="0">
                <a:sym typeface="Symbol"/>
              </a:rPr>
              <a:t></a:t>
            </a:r>
            <a:r>
              <a:rPr lang="ru-RU" sz="2600" dirty="0"/>
              <a:t>(2x + 3y </a:t>
            </a:r>
            <a:r>
              <a:rPr lang="ru-RU" sz="2600" dirty="0">
                <a:sym typeface="Symbol"/>
              </a:rPr>
              <a:t></a:t>
            </a:r>
            <a:r>
              <a:rPr lang="ru-RU" sz="2600" dirty="0"/>
              <a:t> 5). Имеем , </a:t>
            </a:r>
            <a:r>
              <a:rPr lang="en-US" sz="2600" dirty="0"/>
              <a:t>                                                                        </a:t>
            </a:r>
            <a:r>
              <a:rPr lang="ru-RU" sz="2600" dirty="0"/>
              <a:t>. 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ru-RU" sz="2600" dirty="0"/>
              <a:t>Из </a:t>
            </a:r>
            <a:r>
              <a:rPr lang="ru-RU" sz="2600" dirty="0"/>
              <a:t>системы уравнений, определяющей необходимые условия экстремума</a:t>
            </a:r>
          </a:p>
          <a:p>
            <a:pPr marL="0" indent="0">
              <a:buNone/>
            </a:pPr>
            <a:r>
              <a:rPr lang="ru-RU" sz="2600" dirty="0"/>
              <a:t>            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ru-RU" sz="2600" dirty="0"/>
              <a:t>находим </a:t>
            </a:r>
            <a:r>
              <a:rPr lang="ru-RU" sz="2600" dirty="0">
                <a:sym typeface="Symbol"/>
              </a:rPr>
              <a:t></a:t>
            </a:r>
            <a:r>
              <a:rPr lang="ru-RU" sz="2600" dirty="0"/>
              <a:t> = </a:t>
            </a:r>
            <a:r>
              <a:rPr lang="ru-RU" sz="2600" dirty="0">
                <a:sym typeface="Symbol"/>
              </a:rPr>
              <a:t></a:t>
            </a:r>
            <a:r>
              <a:rPr lang="en-US" sz="2600" dirty="0">
                <a:sym typeface="Symbol"/>
              </a:rPr>
              <a:t>       </a:t>
            </a:r>
            <a:r>
              <a:rPr lang="ru-RU" sz="2600" dirty="0"/>
              <a:t> </a:t>
            </a:r>
            <a:r>
              <a:rPr lang="ru-RU" sz="2600" dirty="0"/>
              <a:t>,  x = </a:t>
            </a:r>
            <a:r>
              <a:rPr lang="en-US" sz="2600" dirty="0"/>
              <a:t>       </a:t>
            </a:r>
            <a:r>
              <a:rPr lang="ru-RU" sz="2600" dirty="0"/>
              <a:t>,  </a:t>
            </a:r>
            <a:r>
              <a:rPr lang="ru-RU" sz="2600" dirty="0"/>
              <a:t>y = </a:t>
            </a:r>
            <a:r>
              <a:rPr lang="en-US" sz="2600" dirty="0"/>
              <a:t>      </a:t>
            </a:r>
            <a:r>
              <a:rPr lang="ru-RU" sz="2600" dirty="0"/>
              <a:t>. </a:t>
            </a:r>
            <a:endParaRPr lang="ru-RU" sz="2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498" y="1844824"/>
            <a:ext cx="158417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751" y="1869558"/>
            <a:ext cx="1377484" cy="730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3432175"/>
            <a:ext cx="1512168" cy="2253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067" y="3655322"/>
            <a:ext cx="1910507" cy="1806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562" y="5563585"/>
            <a:ext cx="432048" cy="829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086" y="5620755"/>
            <a:ext cx="295179" cy="787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102" y="5598585"/>
            <a:ext cx="280782" cy="80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5250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332656"/>
                <a:ext cx="8229600" cy="6264696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Выясним характер экстремума в каждой стационарной точке.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𝑥𝑥</m:t>
                          </m:r>
                        </m:sub>
                        <m:sup>
                          <m:r>
                            <a:rPr lang="ru-RU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ru-RU" i="1">
                          <a:latin typeface="Cambria Math"/>
                        </a:rPr>
                        <m:t>=0          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𝑦𝑦</m:t>
                          </m:r>
                        </m:sub>
                        <m:sup>
                          <m:r>
                            <a:rPr lang="ru-RU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ru-RU" i="1">
                          <a:latin typeface="Cambria Math"/>
                        </a:rPr>
                        <m:t>=0             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𝑥𝑦</m:t>
                          </m:r>
                        </m:sub>
                        <m:sup>
                          <m:r>
                            <a:rPr lang="ru-RU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ru-RU" i="1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𝑢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𝑥𝑥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𝑑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+2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𝑥𝑦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𝑑𝑥𝑑𝑦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𝑦𝑦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𝑑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=0∙</m:t>
                      </m:r>
                      <m:r>
                        <a:rPr lang="en-US" i="1">
                          <a:latin typeface="Cambria Math"/>
                        </a:rPr>
                        <m:t>𝑑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+2</m:t>
                      </m:r>
                      <m:r>
                        <a:rPr lang="en-US" i="1">
                          <a:latin typeface="Cambria Math"/>
                        </a:rPr>
                        <m:t>𝑑𝑥𝑑𝑦</m:t>
                      </m:r>
                      <m:r>
                        <a:rPr lang="en-US" i="1">
                          <a:latin typeface="Cambria Math"/>
                        </a:rPr>
                        <m:t>+0∙</m:t>
                      </m:r>
                      <m:r>
                        <a:rPr lang="en-US" i="1">
                          <a:latin typeface="Cambria Math"/>
                        </a:rPr>
                        <m:t>𝑑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==2</m:t>
                      </m:r>
                      <m:r>
                        <a:rPr lang="en-US" i="1">
                          <a:latin typeface="Cambria Math"/>
                        </a:rPr>
                        <m:t>𝑑𝑥𝑑𝑦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en-US" sz="3100" dirty="0"/>
              </a:p>
              <a:p>
                <a:pPr marL="0" indent="0">
                  <a:buNone/>
                </a:pPr>
                <a:r>
                  <a:rPr lang="ru-RU" sz="3100" dirty="0"/>
                  <a:t>Из </a:t>
                </a:r>
                <a:r>
                  <a:rPr lang="ru-RU" sz="3100" dirty="0"/>
                  <a:t>уравнения связи 2x + 3y </a:t>
                </a:r>
                <a:r>
                  <a:rPr lang="ru-RU" sz="3100" dirty="0">
                    <a:sym typeface="Symbol"/>
                  </a:rPr>
                  <a:t></a:t>
                </a:r>
                <a:r>
                  <a:rPr lang="ru-RU" sz="3100" dirty="0"/>
                  <a:t> 5 = 0 имеем: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100" i="1">
                          <a:latin typeface="Cambria Math"/>
                        </a:rPr>
                        <m:t>𝑑</m:t>
                      </m:r>
                      <m:r>
                        <a:rPr lang="en-US" sz="3100" i="1">
                          <a:latin typeface="Cambria Math"/>
                        </a:rPr>
                        <m:t>𝜑</m:t>
                      </m:r>
                      <m:d>
                        <m:dPr>
                          <m:ctrlPr>
                            <a:rPr lang="ru-RU" sz="3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100" i="1">
                              <a:latin typeface="Cambria Math"/>
                            </a:rPr>
                            <m:t>𝑥</m:t>
                          </m:r>
                          <m:r>
                            <a:rPr lang="en-US" sz="3100" i="1">
                              <a:latin typeface="Cambria Math"/>
                            </a:rPr>
                            <m:t>,</m:t>
                          </m:r>
                          <m:r>
                            <a:rPr lang="en-US" sz="31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31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3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100" i="1">
                              <a:latin typeface="Cambria Math"/>
                            </a:rPr>
                            <m:t>𝜕</m:t>
                          </m:r>
                        </m:num>
                        <m:den>
                          <m:r>
                            <a:rPr lang="en-US" sz="3100" i="1">
                              <a:latin typeface="Cambria Math"/>
                            </a:rPr>
                            <m:t>𝜕</m:t>
                          </m:r>
                          <m:r>
                            <a:rPr lang="en-US" sz="3100" i="1">
                              <a:latin typeface="Cambria Math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ru-RU" sz="3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100" i="1">
                              <a:latin typeface="Cambria Math"/>
                            </a:rPr>
                            <m:t>2</m:t>
                          </m:r>
                          <m:r>
                            <a:rPr lang="en-US" sz="3100" i="1">
                              <a:latin typeface="Cambria Math"/>
                            </a:rPr>
                            <m:t>𝑥</m:t>
                          </m:r>
                          <m:r>
                            <a:rPr lang="en-US" sz="3100" i="1">
                              <a:latin typeface="Cambria Math"/>
                            </a:rPr>
                            <m:t>+3</m:t>
                          </m:r>
                          <m:r>
                            <a:rPr lang="en-US" sz="3100" i="1">
                              <a:latin typeface="Cambria Math"/>
                            </a:rPr>
                            <m:t>𝑦</m:t>
                          </m:r>
                          <m:r>
                            <a:rPr lang="en-US" sz="3100" i="1">
                              <a:latin typeface="Cambria Math"/>
                            </a:rPr>
                            <m:t>−5</m:t>
                          </m:r>
                        </m:e>
                      </m:d>
                      <m:r>
                        <a:rPr lang="en-US" sz="3100" i="1">
                          <a:latin typeface="Cambria Math"/>
                        </a:rPr>
                        <m:t>𝑑𝑥</m:t>
                      </m:r>
                      <m:r>
                        <a:rPr lang="en-US" sz="31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ru-RU" sz="3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100" i="1">
                              <a:latin typeface="Cambria Math"/>
                            </a:rPr>
                            <m:t>𝜕</m:t>
                          </m:r>
                        </m:num>
                        <m:den>
                          <m:r>
                            <a:rPr lang="en-US" sz="3100" i="1">
                              <a:latin typeface="Cambria Math"/>
                            </a:rPr>
                            <m:t>𝜕</m:t>
                          </m:r>
                          <m:r>
                            <a:rPr lang="en-US" sz="3100" i="1">
                              <a:latin typeface="Cambria Math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ru-RU" sz="3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100" i="1">
                              <a:latin typeface="Cambria Math"/>
                            </a:rPr>
                            <m:t>2</m:t>
                          </m:r>
                          <m:r>
                            <a:rPr lang="en-US" sz="3100" i="1">
                              <a:latin typeface="Cambria Math"/>
                            </a:rPr>
                            <m:t>𝑥</m:t>
                          </m:r>
                          <m:r>
                            <a:rPr lang="en-US" sz="3100" i="1">
                              <a:latin typeface="Cambria Math"/>
                            </a:rPr>
                            <m:t>+3</m:t>
                          </m:r>
                          <m:r>
                            <a:rPr lang="en-US" sz="3100" i="1">
                              <a:latin typeface="Cambria Math"/>
                            </a:rPr>
                            <m:t>𝑦</m:t>
                          </m:r>
                          <m:r>
                            <a:rPr lang="en-US" sz="3100" i="1">
                              <a:latin typeface="Cambria Math"/>
                            </a:rPr>
                            <m:t>−5</m:t>
                          </m:r>
                        </m:e>
                      </m:d>
                      <m:r>
                        <a:rPr lang="en-US" sz="3100" i="1">
                          <a:latin typeface="Cambria Math"/>
                        </a:rPr>
                        <m:t>𝑑𝑦</m:t>
                      </m:r>
                      <m:r>
                        <a:rPr lang="en-US" sz="3100" i="1">
                          <a:latin typeface="Cambria Math"/>
                        </a:rPr>
                        <m:t>=2</m:t>
                      </m:r>
                      <m:r>
                        <a:rPr lang="en-US" sz="3100" i="1">
                          <a:latin typeface="Cambria Math"/>
                        </a:rPr>
                        <m:t>𝑑𝑥</m:t>
                      </m:r>
                      <m:r>
                        <a:rPr lang="en-US" sz="3100" i="1">
                          <a:latin typeface="Cambria Math"/>
                        </a:rPr>
                        <m:t>+3</m:t>
                      </m:r>
                      <m:r>
                        <a:rPr lang="en-US" sz="3100" i="1">
                          <a:latin typeface="Cambria Math"/>
                        </a:rPr>
                        <m:t>𝑑𝑦</m:t>
                      </m:r>
                    </m:oMath>
                  </m:oMathPara>
                </a14:m>
                <a:endParaRPr lang="en-US" sz="3100" dirty="0"/>
              </a:p>
              <a:p>
                <a:pPr marL="0" indent="0">
                  <a:buNone/>
                </a:pPr>
                <a:endParaRPr lang="ru-RU" sz="3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100" i="1">
                          <a:latin typeface="Cambria Math"/>
                        </a:rPr>
                        <m:t>2</m:t>
                      </m:r>
                      <m:r>
                        <a:rPr lang="en-US" sz="3100" i="1">
                          <a:latin typeface="Cambria Math"/>
                        </a:rPr>
                        <m:t>𝑑𝑥</m:t>
                      </m:r>
                      <m:r>
                        <a:rPr lang="en-US" sz="3100" i="1">
                          <a:latin typeface="Cambria Math"/>
                        </a:rPr>
                        <m:t>+3</m:t>
                      </m:r>
                      <m:r>
                        <a:rPr lang="en-US" sz="3100" i="1">
                          <a:latin typeface="Cambria Math"/>
                        </a:rPr>
                        <m:t>𝑑𝑦</m:t>
                      </m:r>
                      <m:r>
                        <a:rPr lang="en-US" sz="31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ru-RU" sz="3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100" i="1">
                          <a:latin typeface="Cambria Math"/>
                        </a:rPr>
                        <m:t>𝑑𝑦</m:t>
                      </m:r>
                      <m:r>
                        <a:rPr lang="en-US" sz="3100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ru-RU" sz="3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10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US" sz="3100" i="1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US" sz="3100" i="1">
                          <a:latin typeface="Cambria Math"/>
                        </a:rPr>
                        <m:t>𝑑𝑥</m:t>
                      </m:r>
                    </m:oMath>
                  </m:oMathPara>
                </a14:m>
                <a:endParaRPr lang="ru-RU" sz="31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32656"/>
                <a:ext cx="8229600" cy="6264696"/>
              </a:xfrm>
              <a:blipFill rotWithShape="1">
                <a:blip r:embed="rId2"/>
                <a:stretch>
                  <a:fillRect l="-1259" t="-1363" r="-1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839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404664"/>
                <a:ext cx="8229600" cy="61926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Подставим во второй дифференциал: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𝑢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=2</m:t>
                      </m:r>
                      <m:r>
                        <a:rPr lang="en-US" i="1">
                          <a:latin typeface="Cambria Math"/>
                        </a:rPr>
                        <m:t>𝑑𝑥𝑑𝑦</m:t>
                      </m:r>
                      <m:r>
                        <a:rPr lang="en-US" i="1">
                          <a:latin typeface="Cambria Math"/>
                        </a:rPr>
                        <m:t>=2</m:t>
                      </m:r>
                      <m:r>
                        <a:rPr lang="en-US" i="1">
                          <a:latin typeface="Cambria Math"/>
                        </a:rPr>
                        <m:t>𝑑𝑥</m:t>
                      </m:r>
                      <m:r>
                        <a:rPr lang="en-US" i="1">
                          <a:latin typeface="Cambria Math"/>
                        </a:rPr>
                        <m:t>∙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/>
                            </a:rPr>
                            <m:t>𝑑𝑥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=−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/>
                        </a:rPr>
                        <m:t>𝑑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&lt;0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Следовательно</a:t>
                </a:r>
                <a:r>
                  <a:rPr lang="ru-RU" dirty="0"/>
                  <a:t>, что в точке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 </a:t>
                </a:r>
                <a:r>
                  <a:rPr lang="ru-RU" dirty="0"/>
                  <a:t>функция  z = </a:t>
                </a:r>
                <a:r>
                  <a:rPr lang="ru-RU" dirty="0" err="1"/>
                  <a:t>xy</a:t>
                </a:r>
                <a:r>
                  <a:rPr lang="ru-RU" dirty="0"/>
                  <a:t>  достигает наибольшего значения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 err="1"/>
                  <a:t>z</a:t>
                </a:r>
                <a:r>
                  <a:rPr lang="ru-RU" baseline="-25000" dirty="0" err="1"/>
                  <a:t>max</a:t>
                </a:r>
                <a:r>
                  <a:rPr lang="ru-RU" dirty="0"/>
                  <a:t> </a:t>
                </a:r>
                <a:r>
                  <a:rPr lang="ru-RU" dirty="0"/>
                  <a:t>= </a:t>
                </a:r>
                <a:r>
                  <a:rPr lang="en-US" dirty="0"/>
                  <a:t>        </a:t>
                </a:r>
                <a:r>
                  <a:rPr lang="ru-RU" dirty="0"/>
                  <a:t>.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04664"/>
                <a:ext cx="8229600" cy="6192688"/>
              </a:xfrm>
              <a:blipFill rotWithShape="0">
                <a:blip r:embed="rId2"/>
                <a:stretch>
                  <a:fillRect l="-1481" t="-8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24" y="2204864"/>
            <a:ext cx="885428" cy="837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098" y="4293097"/>
            <a:ext cx="576064" cy="1063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0344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9760" y="116632"/>
            <a:ext cx="8964488" cy="936104"/>
          </a:xfrm>
        </p:spPr>
        <p:txBody>
          <a:bodyPr>
            <a:noAutofit/>
          </a:bodyPr>
          <a:lstStyle/>
          <a:p>
            <a:r>
              <a:rPr lang="ru-RU" sz="3200" b="1" i="1" dirty="0"/>
              <a:t>Условный экстремум функции нескольких переменных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5520" y="1052736"/>
            <a:ext cx="8521869" cy="122413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716" y="2276872"/>
            <a:ext cx="5284576" cy="50064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956" y="2818450"/>
            <a:ext cx="8877823" cy="35413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5519" y="3172586"/>
            <a:ext cx="5078870" cy="43224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20" y="3604831"/>
            <a:ext cx="8352930" cy="51601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0720" y="4120842"/>
            <a:ext cx="6825560" cy="35084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8"/>
          <a:srcRect l="9025" t="1712" b="-1"/>
          <a:stretch/>
        </p:blipFill>
        <p:spPr>
          <a:xfrm>
            <a:off x="1790721" y="4471689"/>
            <a:ext cx="3797061" cy="39225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9"/>
          <a:srcRect t="1" r="34262" b="-1575"/>
          <a:stretch/>
        </p:blipFill>
        <p:spPr>
          <a:xfrm>
            <a:off x="5587782" y="4455226"/>
            <a:ext cx="4252635" cy="34192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90720" y="4840626"/>
            <a:ext cx="6465520" cy="37416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6240" y="4825162"/>
            <a:ext cx="1854620" cy="389626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04361" y="3248006"/>
            <a:ext cx="830531" cy="30071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94990" y="5228528"/>
            <a:ext cx="5669162" cy="311656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64153" y="5175618"/>
            <a:ext cx="941609" cy="340928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56241" y="5225148"/>
            <a:ext cx="2182727" cy="29959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28412" y="5540184"/>
            <a:ext cx="6335393" cy="44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7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5837" y="21098"/>
            <a:ext cx="8964488" cy="936104"/>
          </a:xfrm>
        </p:spPr>
        <p:txBody>
          <a:bodyPr>
            <a:noAutofit/>
          </a:bodyPr>
          <a:lstStyle/>
          <a:p>
            <a:r>
              <a:rPr lang="ru-RU" sz="3200" b="1" i="1" dirty="0"/>
              <a:t>Условный экстремум функции нескольких переменных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81626"/>
          <a:stretch/>
        </p:blipFill>
        <p:spPr>
          <a:xfrm>
            <a:off x="1524001" y="967118"/>
            <a:ext cx="9056325" cy="80569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1" y="4894955"/>
            <a:ext cx="8512611" cy="33072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838" y="1792252"/>
            <a:ext cx="7741275" cy="35560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8395" y="1796379"/>
            <a:ext cx="976685" cy="31140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5838" y="2104605"/>
            <a:ext cx="8769061" cy="101521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1" y="3119816"/>
            <a:ext cx="9046613" cy="174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11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9760" y="41260"/>
            <a:ext cx="8964488" cy="936104"/>
          </a:xfrm>
        </p:spPr>
        <p:txBody>
          <a:bodyPr>
            <a:noAutofit/>
          </a:bodyPr>
          <a:lstStyle/>
          <a:p>
            <a:pPr algn="ctr"/>
            <a:r>
              <a:rPr lang="ru-RU" sz="3200" b="1" i="1" dirty="0"/>
              <a:t>Условный экстремум функции нескольких переменных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528" y="977364"/>
            <a:ext cx="8766720" cy="439035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b="68671"/>
          <a:stretch/>
        </p:blipFill>
        <p:spPr>
          <a:xfrm>
            <a:off x="1847527" y="5400951"/>
            <a:ext cx="9757926" cy="95718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527" y="6358132"/>
            <a:ext cx="1756277" cy="35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3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9760" y="116632"/>
            <a:ext cx="8964488" cy="936104"/>
          </a:xfrm>
        </p:spPr>
        <p:txBody>
          <a:bodyPr>
            <a:noAutofit/>
          </a:bodyPr>
          <a:lstStyle/>
          <a:p>
            <a:r>
              <a:rPr lang="ru-RU" sz="3200" b="1" i="1" dirty="0"/>
              <a:t>Условный экстремум функции нескольких переменных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544" y="1083320"/>
            <a:ext cx="8090724" cy="39040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112" y="1472882"/>
            <a:ext cx="7094469" cy="37194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906" y="1844825"/>
            <a:ext cx="3000823" cy="32556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565" y="1849277"/>
            <a:ext cx="3853780" cy="33032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3752" y="2182606"/>
            <a:ext cx="4107784" cy="42098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881" y="2603591"/>
            <a:ext cx="8040482" cy="89038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0906" y="3498820"/>
            <a:ext cx="1502807" cy="30319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1317" y="3493980"/>
            <a:ext cx="4577785" cy="340609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10"/>
          <a:srcRect r="34211" b="7570"/>
          <a:stretch/>
        </p:blipFill>
        <p:spPr>
          <a:xfrm>
            <a:off x="2000906" y="3834589"/>
            <a:ext cx="6327343" cy="3865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10"/>
          <a:srcRect l="66235" t="-30283"/>
          <a:stretch/>
        </p:blipFill>
        <p:spPr>
          <a:xfrm>
            <a:off x="2004674" y="4119793"/>
            <a:ext cx="3004574" cy="504056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9249" y="4282573"/>
            <a:ext cx="5500285" cy="352235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0905" y="4622948"/>
            <a:ext cx="6409236" cy="10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5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008112"/>
          </a:xfrm>
        </p:spPr>
        <p:txBody>
          <a:bodyPr>
            <a:noAutofit/>
          </a:bodyPr>
          <a:lstStyle/>
          <a:p>
            <a:r>
              <a:rPr lang="ru-RU" sz="3200" b="1" i="1" dirty="0"/>
              <a:t>Условный экстремум функции нескольких переменных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2166" y="1159096"/>
            <a:ext cx="8305750" cy="36004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166" y="1519136"/>
            <a:ext cx="2413634" cy="27656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339" y="1519136"/>
            <a:ext cx="5968509" cy="25631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9512" y="1775775"/>
            <a:ext cx="2252273" cy="32175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6"/>
          <a:srcRect l="21345" t="-1213" r="18703" b="88012"/>
          <a:stretch/>
        </p:blipFill>
        <p:spPr>
          <a:xfrm>
            <a:off x="3719736" y="2060848"/>
            <a:ext cx="5112568" cy="43204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9512" y="2492896"/>
            <a:ext cx="3332393" cy="36745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2167" y="2877673"/>
            <a:ext cx="6356729" cy="37804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2166" y="3245123"/>
            <a:ext cx="7886242" cy="35716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9511" y="3586691"/>
            <a:ext cx="2247996" cy="29006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11"/>
          <a:srcRect t="-1" r="19943" b="54"/>
          <a:stretch/>
        </p:blipFill>
        <p:spPr>
          <a:xfrm>
            <a:off x="4131126" y="3542162"/>
            <a:ext cx="5781298" cy="390895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4709" y="3883963"/>
            <a:ext cx="4051567" cy="375642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13"/>
          <a:srcRect r="58419" b="-5981"/>
          <a:stretch/>
        </p:blipFill>
        <p:spPr>
          <a:xfrm>
            <a:off x="5995804" y="3868155"/>
            <a:ext cx="3175886" cy="39145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13"/>
          <a:srcRect l="41442" t="20937" r="1" b="1"/>
          <a:stretch/>
        </p:blipFill>
        <p:spPr>
          <a:xfrm>
            <a:off x="1951959" y="4254671"/>
            <a:ext cx="4389549" cy="286608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75277" y="4793055"/>
            <a:ext cx="4363619" cy="115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39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008112"/>
          </a:xfrm>
        </p:spPr>
        <p:txBody>
          <a:bodyPr>
            <a:noAutofit/>
          </a:bodyPr>
          <a:lstStyle/>
          <a:p>
            <a:r>
              <a:rPr lang="ru-RU" sz="3200" b="1" i="1" dirty="0"/>
              <a:t>Условный экстремум функции нескольких переменных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1" y="1124744"/>
            <a:ext cx="8039575" cy="97936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2082426"/>
            <a:ext cx="8039574" cy="92301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552" y="3005439"/>
            <a:ext cx="6966002" cy="265303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796" y="5685359"/>
            <a:ext cx="7796621" cy="42143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3796" y="6106797"/>
            <a:ext cx="3156303" cy="31406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0098" y="6079917"/>
            <a:ext cx="1255942" cy="35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2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008112"/>
          </a:xfrm>
        </p:spPr>
        <p:txBody>
          <a:bodyPr>
            <a:noAutofit/>
          </a:bodyPr>
          <a:lstStyle/>
          <a:p>
            <a:r>
              <a:rPr lang="ru-RU" sz="3200" b="1" i="1" dirty="0"/>
              <a:t>Условный экстремум функции нескольких переменных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3592" y="1131926"/>
            <a:ext cx="6826322" cy="206900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236195"/>
            <a:ext cx="5194920" cy="38854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398" y="3281179"/>
            <a:ext cx="2376264" cy="34355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2904" y="3645081"/>
            <a:ext cx="8207897" cy="35501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6"/>
          <a:srcRect r="7777" b="-13768"/>
          <a:stretch/>
        </p:blipFill>
        <p:spPr>
          <a:xfrm>
            <a:off x="2002904" y="4000094"/>
            <a:ext cx="8413577" cy="43701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2904" y="4355107"/>
            <a:ext cx="750711" cy="41215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3614" y="4356453"/>
            <a:ext cx="1667086" cy="40946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1200" y="4765913"/>
            <a:ext cx="8229600" cy="39305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10"/>
          <a:srcRect l="53180" t="18092" b="55639"/>
          <a:stretch/>
        </p:blipFill>
        <p:spPr>
          <a:xfrm>
            <a:off x="1981200" y="5504943"/>
            <a:ext cx="2906274" cy="64807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9442" y="5431223"/>
            <a:ext cx="2513220" cy="818914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1201" y="5155023"/>
            <a:ext cx="1719173" cy="34992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3952" y="5671917"/>
            <a:ext cx="649162" cy="30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29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008112"/>
          </a:xfrm>
        </p:spPr>
        <p:txBody>
          <a:bodyPr>
            <a:noAutofit/>
          </a:bodyPr>
          <a:lstStyle/>
          <a:p>
            <a:r>
              <a:rPr lang="ru-RU" sz="3200" b="1" i="1" dirty="0"/>
              <a:t>Условный экстремум функции нескольких переменных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0668" y="1153505"/>
            <a:ext cx="8927333" cy="171347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668" y="2866977"/>
            <a:ext cx="5297379" cy="52672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500" y="3393706"/>
            <a:ext cx="5246583" cy="53625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0668" y="3929958"/>
            <a:ext cx="3937309" cy="48608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4840" y="4416046"/>
            <a:ext cx="4788711" cy="44181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0096" y="4857863"/>
            <a:ext cx="7064217" cy="3582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499" y="5216087"/>
            <a:ext cx="2637848" cy="36113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9"/>
          <a:srcRect b="63300"/>
          <a:stretch/>
        </p:blipFill>
        <p:spPr>
          <a:xfrm>
            <a:off x="4434688" y="5211478"/>
            <a:ext cx="4297725" cy="34622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9"/>
          <a:srcRect l="16134" t="56646"/>
          <a:stretch/>
        </p:blipFill>
        <p:spPr>
          <a:xfrm>
            <a:off x="6203940" y="6095532"/>
            <a:ext cx="4077102" cy="46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8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07568" y="2780928"/>
            <a:ext cx="8229600" cy="1143000"/>
          </a:xfrm>
        </p:spPr>
        <p:txBody>
          <a:bodyPr/>
          <a:lstStyle/>
          <a:p>
            <a:pPr algn="ctr"/>
            <a:r>
              <a:rPr lang="ru-RU" b="1" i="1" dirty="0" smtClean="0"/>
              <a:t>Спасибо за внимание!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41857359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403</Words>
  <Application>Microsoft Office PowerPoint</Application>
  <PresentationFormat>Широкоэкранный</PresentationFormat>
  <Paragraphs>85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Symbol</vt:lpstr>
      <vt:lpstr>Тема Office</vt:lpstr>
      <vt:lpstr>Методы оптимизации</vt:lpstr>
      <vt:lpstr>Экстремум неявно заданной функции</vt:lpstr>
      <vt:lpstr>Экстремум неявно заданной функции</vt:lpstr>
      <vt:lpstr>Экстремум неявно заданной функции</vt:lpstr>
      <vt:lpstr>Экстремум неявно заданной функции. Пример</vt:lpstr>
      <vt:lpstr>Экстремум неявно заданной функции. Пример</vt:lpstr>
      <vt:lpstr>Экстремум неявно заданной функции. Пример</vt:lpstr>
      <vt:lpstr>Условный экстремум функции двух переменных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Условный экстремум функции нескольких переменных</vt:lpstr>
      <vt:lpstr>Условный экстремум функции нескольких переменных</vt:lpstr>
      <vt:lpstr>Условный экстремум функции нескольких переменных</vt:lpstr>
      <vt:lpstr>Условный экстремум функции нескольких переменных</vt:lpstr>
      <vt:lpstr>Условный экстремум функции нескольких переменных</vt:lpstr>
      <vt:lpstr>Условный экстремум функции нескольких переменных</vt:lpstr>
      <vt:lpstr>Условный экстремум функции нескольких переменных</vt:lpstr>
      <vt:lpstr>Условный экстремум функции нескольких переменных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оптимизации</dc:title>
  <dc:creator>Елена</dc:creator>
  <cp:lastModifiedBy>Елена</cp:lastModifiedBy>
  <cp:revision>6</cp:revision>
  <dcterms:created xsi:type="dcterms:W3CDTF">2025-01-17T13:16:14Z</dcterms:created>
  <dcterms:modified xsi:type="dcterms:W3CDTF">2025-01-17T13:41:28Z</dcterms:modified>
</cp:coreProperties>
</file>