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F5C8C-8837-4521-8CD1-4105E9EA0349}" type="datetimeFigureOut">
              <a:rPr lang="ru-RU" smtClean="0"/>
              <a:t>05.02.2025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1E785D-6D01-4977-A384-175E441C53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4659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D6C41-A785-464F-A85A-004AE9F064E0}" type="datetime1">
              <a:rPr lang="ru-RU" smtClean="0"/>
              <a:t>05.02.2025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476F5-063E-4471-BCA9-C39FAA22C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7409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B6DE9-C314-4F6A-9655-EB8E843642A2}" type="datetime1">
              <a:rPr lang="ru-RU" smtClean="0"/>
              <a:t>05.02.2025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476F5-063E-4471-BCA9-C39FAA22C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8391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2E132-DBEA-40DC-8049-BC1BA0751AA7}" type="datetime1">
              <a:rPr lang="ru-RU" smtClean="0"/>
              <a:t>05.02.2025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476F5-063E-4471-BCA9-C39FAA22C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4219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439FF-742E-4B99-A975-76EB60FE0EE1}" type="datetime1">
              <a:rPr lang="ru-RU" smtClean="0"/>
              <a:t>05.02.2025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476F5-063E-4471-BCA9-C39FAA22C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3948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4A375-A00A-435F-80BA-C6014DE5A911}" type="datetime1">
              <a:rPr lang="ru-RU" smtClean="0"/>
              <a:t>05.02.2025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476F5-063E-4471-BCA9-C39FAA22C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3216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F4C52-A85D-499B-A1E8-D891413D31AB}" type="datetime1">
              <a:rPr lang="ru-RU" smtClean="0"/>
              <a:t>05.02.2025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476F5-063E-4471-BCA9-C39FAA22C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6721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6755D-2F12-4E94-B4FA-315A0ED273CB}" type="datetime1">
              <a:rPr lang="ru-RU" smtClean="0"/>
              <a:t>05.02.2025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476F5-063E-4471-BCA9-C39FAA22C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7085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67D9C-DBC7-4825-A58C-FEFD07C91F50}" type="datetime1">
              <a:rPr lang="ru-RU" smtClean="0"/>
              <a:t>05.02.2025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476F5-063E-4471-BCA9-C39FAA22C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1783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B966F-0C03-40C3-9C2F-0D5E7BE4ABA6}" type="datetime1">
              <a:rPr lang="ru-RU" smtClean="0"/>
              <a:t>05.02.2025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476F5-063E-4471-BCA9-C39FAA22C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9472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36580-6A99-4988-B7E8-9876A1B7C07A}" type="datetime1">
              <a:rPr lang="ru-RU" smtClean="0"/>
              <a:t>05.02.2025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476F5-063E-4471-BCA9-C39FAA22C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0041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61253-62DC-45B9-94C2-45CD17B6B030}" type="datetime1">
              <a:rPr lang="ru-RU" smtClean="0"/>
              <a:t>05.02.2025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476F5-063E-4471-BCA9-C39FAA22C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9389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0000">
              <a:schemeClr val="accent6">
                <a:lumMod val="60000"/>
                <a:lumOff val="40000"/>
              </a:schemeClr>
            </a:gs>
            <a:gs pos="84500">
              <a:schemeClr val="accent6">
                <a:lumMod val="40000"/>
                <a:lumOff val="60000"/>
              </a:schemeClr>
            </a:gs>
            <a:gs pos="79000">
              <a:schemeClr val="accent6">
                <a:lumMod val="40000"/>
                <a:lumOff val="60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9DFB54-4CE0-4786-8C6F-E44FD1D0E058}" type="datetime1">
              <a:rPr lang="ru-RU" smtClean="0"/>
              <a:t>05.02.2025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3476F5-063E-4471-BCA9-C39FAA22C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8478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0000">
              <a:schemeClr val="accent6">
                <a:lumMod val="60000"/>
                <a:lumOff val="40000"/>
              </a:schemeClr>
            </a:gs>
            <a:gs pos="84500">
              <a:schemeClr val="accent6">
                <a:lumMod val="40000"/>
                <a:lumOff val="60000"/>
              </a:schemeClr>
            </a:gs>
            <a:gs pos="79000">
              <a:schemeClr val="accent6">
                <a:lumMod val="40000"/>
                <a:lumOff val="60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31640" y="908720"/>
            <a:ext cx="7052320" cy="1470025"/>
          </a:xfrm>
        </p:spPr>
        <p:txBody>
          <a:bodyPr/>
          <a:lstStyle/>
          <a:p>
            <a:r>
              <a:rPr lang="ru-RU" b="1" i="1" dirty="0" smtClean="0"/>
              <a:t>Методы оптимизации</a:t>
            </a:r>
            <a:endParaRPr lang="ru-RU" b="1" i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10258" y="2348880"/>
            <a:ext cx="7494190" cy="4104456"/>
          </a:xfrm>
        </p:spPr>
        <p:txBody>
          <a:bodyPr>
            <a:noAutofit/>
          </a:bodyPr>
          <a:lstStyle/>
          <a:p>
            <a:r>
              <a:rPr lang="ru-RU" i="1" smtClean="0">
                <a:solidFill>
                  <a:schemeClr val="tx1"/>
                </a:solidFill>
              </a:rPr>
              <a:t>Лекция </a:t>
            </a:r>
            <a:r>
              <a:rPr lang="ru-RU" i="1" dirty="0">
                <a:solidFill>
                  <a:schemeClr val="tx1"/>
                </a:solidFill>
              </a:rPr>
              <a:t>3</a:t>
            </a:r>
            <a:r>
              <a:rPr lang="ru-RU" i="1" smtClean="0">
                <a:solidFill>
                  <a:schemeClr val="tx1"/>
                </a:solidFill>
              </a:rPr>
              <a:t>. </a:t>
            </a:r>
            <a:r>
              <a:rPr lang="ru-RU" b="1" i="1" dirty="0">
                <a:solidFill>
                  <a:srgbClr val="FF0000"/>
                </a:solidFill>
              </a:rPr>
              <a:t>Численные методы решения задач одномерной безусловной оптимизации.</a:t>
            </a:r>
            <a:endParaRPr lang="ru-RU" dirty="0">
              <a:solidFill>
                <a:srgbClr val="FF0000"/>
              </a:solidFill>
            </a:endParaRPr>
          </a:p>
          <a:p>
            <a:endParaRPr lang="ru-RU" sz="2400" i="1" dirty="0" smtClean="0">
              <a:solidFill>
                <a:schemeClr val="tx1"/>
              </a:solidFill>
            </a:endParaRPr>
          </a:p>
          <a:p>
            <a:endParaRPr lang="ru-RU" sz="2400" i="1" dirty="0" smtClean="0">
              <a:solidFill>
                <a:schemeClr val="tx1"/>
              </a:solidFill>
            </a:endParaRPr>
          </a:p>
          <a:p>
            <a:pPr marL="4749800" algn="l"/>
            <a:r>
              <a:rPr lang="ru-RU" sz="2400" i="1" dirty="0" smtClean="0">
                <a:solidFill>
                  <a:schemeClr val="tx1"/>
                </a:solidFill>
              </a:rPr>
              <a:t>Селина Елена Георгиевна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222415"/>
            <a:ext cx="293370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218534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ru-RU" sz="3200" b="1" i="1" dirty="0" smtClean="0">
                <a:solidFill>
                  <a:srgbClr val="FF0000"/>
                </a:solidFill>
              </a:rPr>
              <a:t>Литература</a:t>
            </a:r>
            <a:endParaRPr lang="ru-RU" sz="3200" b="1" i="1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688632"/>
          </a:xfrm>
        </p:spPr>
        <p:txBody>
          <a:bodyPr/>
          <a:lstStyle/>
          <a:p>
            <a:pPr marL="514350" lvl="0" indent="-514350">
              <a:buFont typeface="+mj-lt"/>
              <a:buAutoNum type="arabicPeriod"/>
            </a:pPr>
            <a:r>
              <a:rPr lang="ru-RU" dirty="0"/>
              <a:t>Банди Б. Методы оптимизации. Вводный курс. - М.: Радио и связь, 1988. - 128 с. 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dirty="0"/>
              <a:t>Банди Б. Основы линейного программирования. - М.: Радио и связь, 1989. - 176 с.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dirty="0"/>
              <a:t>Лесин, В.В. Основы методов оптимизации.— СПб: Лань, 2016. — 344 с. 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dirty="0"/>
              <a:t>Сухарев, А.Г. Курс методов оптимизации  — Москва: </a:t>
            </a:r>
            <a:r>
              <a:rPr lang="ru-RU" dirty="0" err="1"/>
              <a:t>Физматлит</a:t>
            </a:r>
            <a:r>
              <a:rPr lang="ru-RU" dirty="0"/>
              <a:t>, 2011.— 384 </a:t>
            </a:r>
            <a:r>
              <a:rPr lang="ru-RU" dirty="0" smtClean="0"/>
              <a:t>с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476F5-063E-4471-BCA9-C39FAA22CFBE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2232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260648"/>
                <a:ext cx="8229600" cy="6336704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ru-RU" sz="2700" dirty="0"/>
                  <a:t>Аналитические методы исследования функции на экстремум можно использовать в тех случаях, когда функция f (x) и ее производные имеют достаточно простой вид. Однако зачастую в практических задачах решение уравнения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27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700" i="1">
                              <a:latin typeface="Cambria Math"/>
                            </a:rPr>
                            <m:t>𝑓</m:t>
                          </m:r>
                        </m:e>
                        <m:sup>
                          <m:r>
                            <a:rPr lang="ru-RU" sz="2700" i="1">
                              <a:latin typeface="Cambria Math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ru-RU" sz="2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7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ru-RU" sz="270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ru-RU" sz="2700" dirty="0"/>
              </a:p>
              <a:p>
                <a:pPr marL="0" indent="0">
                  <a:buNone/>
                </a:pPr>
                <a:r>
                  <a:rPr lang="ru-RU" sz="2700" dirty="0"/>
                  <a:t>и даже просто вычисление производной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7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700" i="1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ru-RU" sz="2700" i="1">
                            <a:latin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ru-RU" sz="2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700" i="1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ru-RU" sz="2700" dirty="0"/>
                  <a:t> представляет большие трудности. Кроме того, в практических задачах часто неизвестно, является ли f(x) дифференцируемой функцией. Поэтому существенное значение приобретают численные методы минимизации, не требующие вычисления производной и основанные на исследовании поведения функции в некоторых специально подбираемых точках в соответствии с определенным алгоритмом. Такие методы называются прямыми методами минимизации</a:t>
                </a:r>
                <a:r>
                  <a:rPr lang="ru-RU" sz="2700" dirty="0" smtClean="0"/>
                  <a:t>.</a:t>
                </a:r>
                <a:endParaRPr lang="ru-RU" sz="27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60648"/>
                <a:ext cx="8229600" cy="6336704"/>
              </a:xfrm>
              <a:blipFill rotWithShape="1">
                <a:blip r:embed="rId2"/>
                <a:stretch>
                  <a:fillRect l="-1185" t="-1251" r="-12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476F5-063E-4471-BCA9-C39FAA22CFBE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4904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ru-RU" b="1" i="1" dirty="0">
                <a:solidFill>
                  <a:srgbClr val="FF0000"/>
                </a:solidFill>
              </a:rPr>
              <a:t>Прямые </a:t>
            </a:r>
            <a:r>
              <a:rPr lang="ru-RU" b="1" i="1" dirty="0" smtClean="0">
                <a:solidFill>
                  <a:srgbClr val="FF0000"/>
                </a:solidFill>
              </a:rPr>
              <a:t>методы</a:t>
            </a:r>
            <a:r>
              <a:rPr lang="ru-RU" dirty="0" smtClean="0">
                <a:solidFill>
                  <a:srgbClr val="FF0000"/>
                </a:solidFill>
              </a:rPr>
              <a:t> </a:t>
            </a:r>
            <a:r>
              <a:rPr lang="ru-RU" b="1" i="1" dirty="0">
                <a:solidFill>
                  <a:srgbClr val="FF0000"/>
                </a:solidFill>
              </a:rPr>
              <a:t>минимизации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052736"/>
            <a:ext cx="8568952" cy="55446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700" b="1" i="1" dirty="0" smtClean="0"/>
              <a:t>Определение</a:t>
            </a:r>
            <a:r>
              <a:rPr lang="ru-RU" sz="2700" dirty="0" smtClean="0"/>
              <a:t>. </a:t>
            </a:r>
            <a:r>
              <a:rPr lang="ru-RU" sz="2700" dirty="0"/>
              <a:t>Функция f на действительном отрезке [a, b] называется унимодальной, если она имеет минимум </a:t>
            </a:r>
            <a:r>
              <a:rPr lang="en-US" sz="2700" dirty="0"/>
              <a:t>x</a:t>
            </a:r>
            <a:r>
              <a:rPr lang="ru-RU" sz="2700" dirty="0"/>
              <a:t>*</a:t>
            </a:r>
            <a:r>
              <a:rPr lang="en-US" sz="2700" dirty="0">
                <a:sym typeface="Symbol"/>
              </a:rPr>
              <a:t></a:t>
            </a:r>
            <a:r>
              <a:rPr lang="ru-RU" sz="2700" dirty="0"/>
              <a:t> [a, b] и если для любых </a:t>
            </a:r>
            <a:r>
              <a:rPr lang="ru-RU" sz="2700" dirty="0">
                <a:sym typeface="Symbol"/>
              </a:rPr>
              <a:t></a:t>
            </a:r>
            <a:r>
              <a:rPr lang="ru-RU" sz="2700" dirty="0"/>
              <a:t>, </a:t>
            </a:r>
            <a:r>
              <a:rPr lang="ru-RU" sz="2700" dirty="0">
                <a:sym typeface="Symbol"/>
              </a:rPr>
              <a:t></a:t>
            </a:r>
            <a:r>
              <a:rPr lang="ru-RU" sz="2700" dirty="0"/>
              <a:t> </a:t>
            </a:r>
            <a:r>
              <a:rPr lang="en-US" sz="2700" dirty="0">
                <a:sym typeface="Symbol"/>
              </a:rPr>
              <a:t></a:t>
            </a:r>
            <a:r>
              <a:rPr lang="ru-RU" sz="2700" dirty="0"/>
              <a:t> [a, b] (</a:t>
            </a:r>
            <a:r>
              <a:rPr lang="ru-RU" sz="2700" dirty="0">
                <a:sym typeface="Symbol"/>
              </a:rPr>
              <a:t></a:t>
            </a:r>
            <a:r>
              <a:rPr lang="ru-RU" sz="2700" dirty="0"/>
              <a:t> &lt; </a:t>
            </a:r>
            <a:r>
              <a:rPr lang="ru-RU" sz="2700" dirty="0">
                <a:sym typeface="Symbol"/>
              </a:rPr>
              <a:t></a:t>
            </a:r>
            <a:r>
              <a:rPr lang="ru-RU" sz="2700" dirty="0"/>
              <a:t>) выполняются соотношения:</a:t>
            </a:r>
          </a:p>
          <a:p>
            <a:pPr marL="0" indent="0">
              <a:buNone/>
            </a:pPr>
            <a:r>
              <a:rPr lang="ru-RU" sz="2700" dirty="0"/>
              <a:t>f(</a:t>
            </a:r>
            <a:r>
              <a:rPr lang="ru-RU" sz="2700" dirty="0">
                <a:sym typeface="Symbol"/>
              </a:rPr>
              <a:t></a:t>
            </a:r>
            <a:r>
              <a:rPr lang="ru-RU" sz="2700" dirty="0"/>
              <a:t>) &gt; f(</a:t>
            </a:r>
            <a:r>
              <a:rPr lang="ru-RU" sz="2700" dirty="0">
                <a:sym typeface="Symbol"/>
              </a:rPr>
              <a:t></a:t>
            </a:r>
            <a:r>
              <a:rPr lang="ru-RU" sz="2700" dirty="0"/>
              <a:t>) при </a:t>
            </a:r>
            <a:r>
              <a:rPr lang="ru-RU" sz="2700" dirty="0">
                <a:sym typeface="Symbol"/>
              </a:rPr>
              <a:t></a:t>
            </a:r>
            <a:r>
              <a:rPr lang="ru-RU" sz="2700" dirty="0"/>
              <a:t> </a:t>
            </a:r>
            <a:r>
              <a:rPr lang="ru-RU" sz="2700" dirty="0">
                <a:sym typeface="Symbol"/>
              </a:rPr>
              <a:t></a:t>
            </a:r>
            <a:r>
              <a:rPr lang="ru-RU" sz="2700" dirty="0"/>
              <a:t> x*,</a:t>
            </a:r>
          </a:p>
          <a:p>
            <a:pPr marL="0" indent="0">
              <a:buNone/>
            </a:pPr>
            <a:r>
              <a:rPr lang="ru-RU" sz="2700" dirty="0"/>
              <a:t>f(</a:t>
            </a:r>
            <a:r>
              <a:rPr lang="ru-RU" sz="2700" dirty="0">
                <a:sym typeface="Symbol"/>
              </a:rPr>
              <a:t></a:t>
            </a:r>
            <a:r>
              <a:rPr lang="ru-RU" sz="2700" dirty="0"/>
              <a:t>) &lt; f(</a:t>
            </a:r>
            <a:r>
              <a:rPr lang="ru-RU" sz="2700" dirty="0">
                <a:sym typeface="Symbol"/>
              </a:rPr>
              <a:t></a:t>
            </a:r>
            <a:r>
              <a:rPr lang="ru-RU" sz="2700" dirty="0"/>
              <a:t>) при </a:t>
            </a:r>
            <a:r>
              <a:rPr lang="ru-RU" sz="2700" dirty="0">
                <a:sym typeface="Symbol"/>
              </a:rPr>
              <a:t></a:t>
            </a:r>
            <a:r>
              <a:rPr lang="ru-RU" sz="2700" dirty="0"/>
              <a:t> </a:t>
            </a:r>
            <a:r>
              <a:rPr lang="ru-RU" sz="2700" dirty="0">
                <a:sym typeface="Symbol"/>
              </a:rPr>
              <a:t></a:t>
            </a:r>
            <a:r>
              <a:rPr lang="ru-RU" sz="2700" dirty="0"/>
              <a:t> x*.</a:t>
            </a:r>
          </a:p>
          <a:p>
            <a:pPr marL="0" indent="0">
              <a:buNone/>
            </a:pPr>
            <a:r>
              <a:rPr lang="ru-RU" sz="2700" dirty="0"/>
              <a:t>Численные методы минимизации, как правило, применяются к унимодальным на рассматриваемом отрезке функциям. </a:t>
            </a:r>
            <a:endParaRPr lang="ru-RU" sz="2700" dirty="0" smtClean="0"/>
          </a:p>
          <a:p>
            <a:pPr marL="0" indent="0">
              <a:buNone/>
            </a:pPr>
            <a:r>
              <a:rPr lang="ru-RU" sz="2800" b="1" i="1" dirty="0" smtClean="0"/>
              <a:t>Определение</a:t>
            </a:r>
            <a:r>
              <a:rPr lang="ru-RU" sz="2800" dirty="0" smtClean="0"/>
              <a:t>. Методы</a:t>
            </a:r>
            <a:r>
              <a:rPr lang="ru-RU" sz="2800" dirty="0"/>
              <a:t>, использующие только значения функции и не требующие вычисления ее производных, называются прямыми методами минимизации. </a:t>
            </a:r>
            <a:endParaRPr lang="ru-RU" sz="27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476F5-063E-4471-BCA9-C39FAA22CFBE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8555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ru-RU" b="1" i="1" dirty="0">
                <a:solidFill>
                  <a:srgbClr val="FF0000"/>
                </a:solidFill>
              </a:rPr>
              <a:t>Метод деления отрезка </a:t>
            </a:r>
            <a:r>
              <a:rPr lang="ru-RU" b="1" i="1" dirty="0" smtClean="0">
                <a:solidFill>
                  <a:srgbClr val="FF0000"/>
                </a:solidFill>
              </a:rPr>
              <a:t>пополам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836712"/>
            <a:ext cx="8784976" cy="5904656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2600" dirty="0"/>
              <a:t>Задаются </a:t>
            </a:r>
            <a:r>
              <a:rPr lang="ru-RU" sz="2600" i="1" dirty="0"/>
              <a:t>a, b </a:t>
            </a:r>
            <a:r>
              <a:rPr lang="ru-RU" sz="2600" dirty="0"/>
              <a:t>и погрешность ε</a:t>
            </a:r>
            <a:r>
              <a:rPr lang="ru-RU" sz="2600" dirty="0" smtClean="0"/>
              <a:t>.</a:t>
            </a:r>
          </a:p>
          <a:p>
            <a:pPr>
              <a:spcBef>
                <a:spcPts val="0"/>
              </a:spcBef>
            </a:pPr>
            <a:r>
              <a:rPr lang="ru-RU" sz="2600" dirty="0" smtClean="0"/>
              <a:t>Берем </a:t>
            </a:r>
            <a:r>
              <a:rPr lang="ru-RU" sz="2600" dirty="0"/>
              <a:t>две точки вблизи середины интервала </a:t>
            </a:r>
            <a:r>
              <a:rPr lang="ru-RU" sz="2600" i="1" dirty="0"/>
              <a:t>[a, b]: x</a:t>
            </a:r>
            <a:r>
              <a:rPr lang="ru-RU" sz="2600" dirty="0"/>
              <a:t>1 = (</a:t>
            </a:r>
            <a:r>
              <a:rPr lang="ru-RU" sz="2600" i="1" dirty="0"/>
              <a:t>a </a:t>
            </a:r>
            <a:r>
              <a:rPr lang="ru-RU" sz="2600" dirty="0"/>
              <a:t>+</a:t>
            </a:r>
            <a:r>
              <a:rPr lang="ru-RU" sz="2600" i="1" dirty="0"/>
              <a:t>b </a:t>
            </a:r>
            <a:r>
              <a:rPr lang="ru-RU" sz="2600" dirty="0"/>
              <a:t>−</a:t>
            </a:r>
            <a:r>
              <a:rPr lang="ru-RU" sz="2600" i="1" dirty="0"/>
              <a:t>ε</a:t>
            </a:r>
            <a:r>
              <a:rPr lang="ru-RU" sz="2600" dirty="0"/>
              <a:t>) / 2, </a:t>
            </a:r>
            <a:r>
              <a:rPr lang="ru-RU" sz="2600" i="1" dirty="0"/>
              <a:t>x</a:t>
            </a:r>
            <a:r>
              <a:rPr lang="ru-RU" sz="2600" dirty="0"/>
              <a:t>2 = (</a:t>
            </a:r>
            <a:r>
              <a:rPr lang="ru-RU" sz="2600" i="1" dirty="0"/>
              <a:t>a </a:t>
            </a:r>
            <a:r>
              <a:rPr lang="ru-RU" sz="2600" dirty="0"/>
              <a:t>+ </a:t>
            </a:r>
            <a:r>
              <a:rPr lang="ru-RU" sz="2600" i="1" dirty="0"/>
              <a:t>b </a:t>
            </a:r>
            <a:r>
              <a:rPr lang="ru-RU" sz="2600" dirty="0"/>
              <a:t>+</a:t>
            </a:r>
            <a:r>
              <a:rPr lang="ru-RU" sz="2600" i="1" dirty="0"/>
              <a:t>ε</a:t>
            </a:r>
            <a:r>
              <a:rPr lang="ru-RU" sz="2600" dirty="0"/>
              <a:t>) / 2 .</a:t>
            </a:r>
          </a:p>
          <a:p>
            <a:pPr>
              <a:spcBef>
                <a:spcPts val="0"/>
              </a:spcBef>
            </a:pPr>
            <a:r>
              <a:rPr lang="ru-RU" sz="2600" dirty="0"/>
              <a:t>Вычисляем </a:t>
            </a:r>
            <a:r>
              <a:rPr lang="ru-RU" sz="2600" i="1" dirty="0"/>
              <a:t>y</a:t>
            </a:r>
            <a:r>
              <a:rPr lang="ru-RU" sz="2600" dirty="0"/>
              <a:t>1 = </a:t>
            </a:r>
            <a:r>
              <a:rPr lang="ru-RU" sz="2600" i="1" dirty="0"/>
              <a:t>f </a:t>
            </a:r>
            <a:r>
              <a:rPr lang="ru-RU" sz="2600" dirty="0"/>
              <a:t>(</a:t>
            </a:r>
            <a:r>
              <a:rPr lang="ru-RU" sz="2600" i="1" dirty="0"/>
              <a:t>x</a:t>
            </a:r>
            <a:r>
              <a:rPr lang="ru-RU" sz="2600" dirty="0"/>
              <a:t>1), </a:t>
            </a:r>
            <a:r>
              <a:rPr lang="ru-RU" sz="2600" i="1" dirty="0"/>
              <a:t>y</a:t>
            </a:r>
            <a:r>
              <a:rPr lang="ru-RU" sz="2600" dirty="0"/>
              <a:t>2 = </a:t>
            </a:r>
            <a:r>
              <a:rPr lang="ru-RU" sz="2600" i="1" dirty="0"/>
              <a:t>f </a:t>
            </a:r>
            <a:r>
              <a:rPr lang="ru-RU" sz="2600" dirty="0"/>
              <a:t>(</a:t>
            </a:r>
            <a:r>
              <a:rPr lang="ru-RU" sz="2600" i="1" dirty="0"/>
              <a:t>x</a:t>
            </a:r>
            <a:r>
              <a:rPr lang="ru-RU" sz="2600" dirty="0"/>
              <a:t>2 ) .</a:t>
            </a:r>
          </a:p>
          <a:p>
            <a:pPr>
              <a:spcBef>
                <a:spcPts val="0"/>
              </a:spcBef>
            </a:pPr>
            <a:r>
              <a:rPr lang="ru-RU" sz="2600" dirty="0"/>
              <a:t>Если </a:t>
            </a:r>
            <a:r>
              <a:rPr lang="ru-RU" sz="2600" i="1" dirty="0"/>
              <a:t>y1 &gt; y2</a:t>
            </a:r>
            <a:r>
              <a:rPr lang="ru-RU" sz="2600" dirty="0"/>
              <a:t>, тогда присваивается </a:t>
            </a:r>
            <a:r>
              <a:rPr lang="ru-RU" sz="2600" i="1" dirty="0"/>
              <a:t>a=x1,</a:t>
            </a:r>
            <a:endParaRPr lang="ru-RU" sz="2600" dirty="0"/>
          </a:p>
          <a:p>
            <a:pPr marL="0" indent="0">
              <a:spcBef>
                <a:spcPts val="0"/>
              </a:spcBef>
              <a:buNone/>
            </a:pPr>
            <a:r>
              <a:rPr lang="ru-RU" sz="2600" dirty="0" smtClean="0"/>
              <a:t>иначе </a:t>
            </a:r>
            <a:r>
              <a:rPr lang="ru-RU" sz="2600" dirty="0"/>
              <a:t>присваивается </a:t>
            </a:r>
            <a:r>
              <a:rPr lang="ru-RU" sz="2600" i="1" dirty="0"/>
              <a:t>b=x2</a:t>
            </a:r>
            <a:endParaRPr lang="ru-RU" sz="2600" dirty="0"/>
          </a:p>
          <a:p>
            <a:pPr>
              <a:spcBef>
                <a:spcPts val="0"/>
              </a:spcBef>
            </a:pPr>
            <a:r>
              <a:rPr lang="ru-RU" sz="2600" dirty="0"/>
              <a:t>Если b-a&gt;2ε, тогда повторяем с п.1, иначе переходим к пункту 5.</a:t>
            </a:r>
          </a:p>
          <a:p>
            <a:pPr>
              <a:spcBef>
                <a:spcPts val="0"/>
              </a:spcBef>
            </a:pPr>
            <a:r>
              <a:rPr lang="ru-RU" sz="2600" dirty="0"/>
              <a:t>Вычисляем</a:t>
            </a:r>
            <a:r>
              <a:rPr lang="en-US" sz="2600" dirty="0"/>
              <a:t> </a:t>
            </a:r>
            <a:r>
              <a:rPr lang="en-US" sz="2600" dirty="0" err="1"/>
              <a:t>xm</a:t>
            </a:r>
            <a:r>
              <a:rPr lang="en-US" sz="2600" dirty="0"/>
              <a:t> = (a + b) / 2, </a:t>
            </a:r>
            <a:r>
              <a:rPr lang="en-US" sz="2600" dirty="0" err="1"/>
              <a:t>ym</a:t>
            </a:r>
            <a:r>
              <a:rPr lang="en-US" sz="2600" dirty="0"/>
              <a:t> = f (</a:t>
            </a:r>
            <a:r>
              <a:rPr lang="en-US" sz="2600" dirty="0" err="1"/>
              <a:t>xm</a:t>
            </a:r>
            <a:r>
              <a:rPr lang="en-US" sz="2600" dirty="0"/>
              <a:t> ).</a:t>
            </a:r>
            <a:endParaRPr lang="ru-RU" sz="2600" dirty="0"/>
          </a:p>
          <a:p>
            <a:pPr>
              <a:spcBef>
                <a:spcPts val="0"/>
              </a:spcBef>
            </a:pPr>
            <a:r>
              <a:rPr lang="ru-RU" sz="2600" dirty="0"/>
              <a:t>Конец</a:t>
            </a:r>
            <a:r>
              <a:rPr lang="ru-RU" sz="2600" dirty="0" smtClean="0"/>
              <a:t>.</a:t>
            </a:r>
            <a:endParaRPr lang="ru-RU" sz="2600" dirty="0"/>
          </a:p>
          <a:p>
            <a:pPr marL="0" indent="0">
              <a:spcBef>
                <a:spcPts val="0"/>
              </a:spcBef>
              <a:buNone/>
            </a:pPr>
            <a:r>
              <a:rPr lang="ru-RU" sz="2600" dirty="0" smtClean="0"/>
              <a:t>Этот </a:t>
            </a:r>
            <a:r>
              <a:rPr lang="ru-RU" sz="2600" dirty="0"/>
              <a:t>метод прост в реализации, позволяет находить минимум разрывной функции, однако требует большого числа вычислений функции для обеспечения заданной точности</a:t>
            </a:r>
            <a:r>
              <a:rPr lang="ru-RU" sz="2600" dirty="0" smtClean="0"/>
              <a:t>.</a:t>
            </a:r>
            <a:endParaRPr lang="ru-RU" sz="2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476F5-063E-4471-BCA9-C39FAA22CFB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7042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0"/>
            <a:ext cx="8712968" cy="562074"/>
          </a:xfrm>
        </p:spPr>
        <p:txBody>
          <a:bodyPr>
            <a:normAutofit fontScale="90000"/>
          </a:bodyPr>
          <a:lstStyle/>
          <a:p>
            <a:r>
              <a:rPr lang="ru-RU" b="1" i="1" dirty="0">
                <a:solidFill>
                  <a:srgbClr val="FF0000"/>
                </a:solidFill>
              </a:rPr>
              <a:t>Метод золотого </a:t>
            </a:r>
            <a:r>
              <a:rPr lang="ru-RU" b="1" i="1" dirty="0" smtClean="0">
                <a:solidFill>
                  <a:srgbClr val="FF0000"/>
                </a:solidFill>
              </a:rPr>
              <a:t>сечения</a:t>
            </a:r>
            <a:endParaRPr lang="ru-R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548680"/>
                <a:ext cx="8712968" cy="619268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buNone/>
                </a:pPr>
                <a:r>
                  <a:rPr lang="ru-RU" dirty="0"/>
                  <a:t> </a:t>
                </a:r>
                <a:r>
                  <a:rPr lang="ru-RU" sz="2600" dirty="0" smtClean="0"/>
                  <a:t>Метод </a:t>
                </a:r>
                <a:r>
                  <a:rPr lang="ru-RU" sz="2600" dirty="0"/>
                  <a:t>золотого сечения основан на делении отрезка локализации «золотым сечением», т.е. таком делении, когда отношение большей части отрезка ко всему отрезку равно отношению меньшей части к большей. </a:t>
                </a:r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i="1">
                              <a:latin typeface="Cambria Math"/>
                            </a:rPr>
                            <m:t>𝐴𝐵</m:t>
                          </m:r>
                        </m:num>
                        <m:den>
                          <m:r>
                            <a:rPr lang="ru-RU" sz="2600" i="1">
                              <a:latin typeface="Cambria Math"/>
                            </a:rPr>
                            <m:t>𝐴𝐷</m:t>
                          </m:r>
                        </m:den>
                      </m:f>
                      <m:r>
                        <a:rPr lang="ru-RU" sz="26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ru-RU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600" i="1">
                              <a:latin typeface="Cambria Math"/>
                            </a:rPr>
                            <m:t>𝐴𝐷</m:t>
                          </m:r>
                        </m:num>
                        <m:den>
                          <m:r>
                            <a:rPr lang="ru-RU" sz="2600" i="1">
                              <a:latin typeface="Cambria Math"/>
                            </a:rPr>
                            <m:t>𝐷𝐵</m:t>
                          </m:r>
                        </m:den>
                      </m:f>
                      <m:r>
                        <a:rPr lang="ru-RU" sz="26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ru-RU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600" i="1">
                              <a:latin typeface="Cambria Math"/>
                            </a:rPr>
                            <m:t>1+</m:t>
                          </m:r>
                          <m:rad>
                            <m:radPr>
                              <m:degHide m:val="on"/>
                              <m:ctrlPr>
                                <a:rPr lang="ru-RU" sz="26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sz="2600" i="1">
                                  <a:latin typeface="Cambria Math"/>
                                </a:rPr>
                                <m:t>5</m:t>
                              </m:r>
                            </m:e>
                          </m:rad>
                        </m:num>
                        <m:den>
                          <m:r>
                            <a:rPr lang="ru-RU" sz="2600" i="1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sz="2600" dirty="0"/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buNone/>
                </a:pPr>
                <a:endParaRPr lang="en-US" sz="2600" dirty="0"/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buNone/>
                </a:pPr>
                <a:endParaRPr lang="ru-RU" sz="2600" dirty="0" smtClean="0"/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buNone/>
                </a:pPr>
                <a:r>
                  <a:rPr lang="ru-RU" sz="2600" dirty="0" smtClean="0"/>
                  <a:t>Алгоритм </a:t>
                </a:r>
                <a:r>
                  <a:rPr lang="ru-RU" sz="2600" dirty="0"/>
                  <a:t>метода схож с методом половинного деления, за исключением только способа расчета точек сравнивания </a:t>
                </a:r>
                <a:r>
                  <a:rPr lang="en-US" sz="2600" dirty="0"/>
                  <a:t>x</a:t>
                </a:r>
                <a:r>
                  <a:rPr lang="ru-RU" sz="2600" baseline="-25000" dirty="0"/>
                  <a:t>1</a:t>
                </a:r>
                <a:r>
                  <a:rPr lang="ru-RU" sz="2600" dirty="0"/>
                  <a:t>, </a:t>
                </a:r>
                <a:r>
                  <a:rPr lang="en-US" sz="2600" dirty="0"/>
                  <a:t>x</a:t>
                </a:r>
                <a:r>
                  <a:rPr lang="ru-RU" sz="2600" baseline="-25000" dirty="0"/>
                  <a:t>2</a:t>
                </a:r>
                <a:r>
                  <a:rPr lang="ru-RU" sz="2600" dirty="0"/>
                  <a:t>, которые теперь вычисляются в пропорции золотого сечения</a:t>
                </a:r>
                <a:r>
                  <a:rPr lang="ru-RU" sz="2600" dirty="0" smtClean="0"/>
                  <a:t>. В этом методе выбор нового интервала неопределенности происходит по результатам сравнения функции в двух точках. Но в </a:t>
                </a:r>
                <a:r>
                  <a:rPr lang="ru-RU" sz="2600" dirty="0"/>
                  <a:t>отличии от метода половинного деления, на каждой итерации, кроме первой, вычислении функции производится только в одной точке. 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548680"/>
                <a:ext cx="8712968" cy="6192688"/>
              </a:xfrm>
              <a:blipFill rotWithShape="1">
                <a:blip r:embed="rId2"/>
                <a:stretch>
                  <a:fillRect l="-1049" r="-839" b="-15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78"/>
          <a:stretch/>
        </p:blipFill>
        <p:spPr bwMode="auto">
          <a:xfrm>
            <a:off x="3598851" y="2492896"/>
            <a:ext cx="4429401" cy="1166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476F5-063E-4471-BCA9-C39FAA22CFBE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1295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116632"/>
                <a:ext cx="8928992" cy="6552728"/>
              </a:xfrm>
            </p:spPr>
            <p:txBody>
              <a:bodyPr>
                <a:noAutofit/>
              </a:bodyPr>
              <a:lstStyle/>
              <a:p>
                <a:pPr marL="0" indent="0">
                  <a:spcBef>
                    <a:spcPts val="0"/>
                  </a:spcBef>
                  <a:buNone/>
                </a:pPr>
                <a:r>
                  <a:rPr lang="ru-RU" sz="2600" dirty="0" smtClean="0"/>
                  <a:t>На </a:t>
                </a:r>
                <a:r>
                  <a:rPr lang="ru-RU" sz="2600" dirty="0"/>
                  <a:t>первом шаге (итерации) точки вычисляются по формулам: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sz="2600" dirty="0" smtClean="0"/>
                  <a:t>x</a:t>
                </a:r>
                <a:r>
                  <a:rPr lang="ru-RU" sz="2600" baseline="-25000" dirty="0"/>
                  <a:t>1</a:t>
                </a:r>
                <a:r>
                  <a:rPr lang="ru-RU" sz="2600" dirty="0"/>
                  <a:t>=</a:t>
                </a:r>
                <a:r>
                  <a:rPr lang="en-US" sz="2600" dirty="0"/>
                  <a:t>a</a:t>
                </a:r>
                <a:r>
                  <a:rPr lang="ru-RU" sz="2600" dirty="0"/>
                  <a:t>+0,382(</a:t>
                </a:r>
                <a:r>
                  <a:rPr lang="en-US" sz="2600" dirty="0"/>
                  <a:t>b</a:t>
                </a:r>
                <a:r>
                  <a:rPr lang="ru-RU" sz="2600" dirty="0"/>
                  <a:t>-</a:t>
                </a:r>
                <a:r>
                  <a:rPr lang="en-US" sz="2600" dirty="0"/>
                  <a:t>a</a:t>
                </a:r>
                <a:r>
                  <a:rPr lang="ru-RU" sz="2600" dirty="0"/>
                  <a:t>), </a:t>
                </a:r>
                <a:r>
                  <a:rPr lang="en-US" sz="2600" dirty="0"/>
                  <a:t>x</a:t>
                </a:r>
                <a:r>
                  <a:rPr lang="ru-RU" sz="2600" baseline="-25000" dirty="0"/>
                  <a:t>2</a:t>
                </a:r>
                <a:r>
                  <a:rPr lang="ru-RU" sz="2600" dirty="0"/>
                  <a:t>=</a:t>
                </a:r>
                <a:r>
                  <a:rPr lang="en-US" sz="2600" dirty="0"/>
                  <a:t>a</a:t>
                </a:r>
                <a:r>
                  <a:rPr lang="ru-RU" sz="2600" dirty="0"/>
                  <a:t>+0,618(</a:t>
                </a:r>
                <a:r>
                  <a:rPr lang="en-US" sz="2600" dirty="0"/>
                  <a:t>b</a:t>
                </a:r>
                <a:r>
                  <a:rPr lang="ru-RU" sz="2600" dirty="0"/>
                  <a:t>-</a:t>
                </a:r>
                <a:r>
                  <a:rPr lang="en-US" sz="2600" dirty="0"/>
                  <a:t>a</a:t>
                </a:r>
                <a:r>
                  <a:rPr lang="ru-RU" sz="2600" dirty="0"/>
                  <a:t>)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ru-RU" sz="2600" dirty="0"/>
                  <a:t> </a:t>
                </a:r>
                <a:r>
                  <a:rPr lang="ru-RU" sz="2600" dirty="0" smtClean="0"/>
                  <a:t>Затем </a:t>
                </a:r>
                <a:r>
                  <a:rPr lang="ru-RU" sz="2600" dirty="0"/>
                  <a:t>вычисляются значение функции в этих точках. </a:t>
                </a:r>
                <a:r>
                  <a:rPr lang="ru-RU" sz="2800" dirty="0"/>
                  <a:t>Возможны два случая: </a:t>
                </a:r>
                <a:endParaRPr lang="ru-RU" sz="2600" dirty="0"/>
              </a:p>
              <a:p>
                <a:pPr marL="0" lvl="0" indent="0">
                  <a:spcBef>
                    <a:spcPts val="0"/>
                  </a:spcBef>
                  <a:buNone/>
                </a:pPr>
                <a:r>
                  <a:rPr lang="ru-RU" sz="2600" dirty="0"/>
                  <a:t>Если  </a:t>
                </a:r>
                <a:r>
                  <a:rPr lang="en-US" sz="2600" dirty="0"/>
                  <a:t>f</a:t>
                </a:r>
                <a:r>
                  <a:rPr lang="ru-RU" sz="2600" dirty="0"/>
                  <a:t>(</a:t>
                </a:r>
                <a:r>
                  <a:rPr lang="en-US" sz="2600" dirty="0"/>
                  <a:t>x</a:t>
                </a:r>
                <a:r>
                  <a:rPr lang="ru-RU" sz="2600" baseline="-25000" dirty="0"/>
                  <a:t>1</a:t>
                </a:r>
                <a:r>
                  <a:rPr lang="ru-RU" sz="2600" dirty="0"/>
                  <a:t>)&lt;</a:t>
                </a:r>
                <a:r>
                  <a:rPr lang="en-US" sz="2600" dirty="0"/>
                  <a:t>f</a:t>
                </a:r>
                <a:r>
                  <a:rPr lang="ru-RU" sz="2600" dirty="0"/>
                  <a:t>(</a:t>
                </a:r>
                <a:r>
                  <a:rPr lang="en-US" sz="2600" dirty="0"/>
                  <a:t>x</a:t>
                </a:r>
                <a:r>
                  <a:rPr lang="ru-RU" sz="2600" baseline="-25000" dirty="0"/>
                  <a:t>2</a:t>
                </a:r>
                <a:r>
                  <a:rPr lang="ru-RU" sz="2600" dirty="0"/>
                  <a:t>)</a:t>
                </a:r>
                <a:r>
                  <a:rPr lang="ru-RU" sz="2600" b="1" dirty="0"/>
                  <a:t>, </a:t>
                </a:r>
                <a:r>
                  <a:rPr lang="ru-RU" sz="2600" dirty="0"/>
                  <a:t>то оставляем отрезок [</a:t>
                </a:r>
                <a:r>
                  <a:rPr lang="en-US" sz="2600" dirty="0"/>
                  <a:t>a</a:t>
                </a:r>
                <a:r>
                  <a:rPr lang="ru-RU" sz="2600" dirty="0"/>
                  <a:t>,</a:t>
                </a:r>
                <a:r>
                  <a:rPr lang="en-US" sz="2600" dirty="0"/>
                  <a:t>x</a:t>
                </a:r>
                <a:r>
                  <a:rPr lang="ru-RU" sz="2600" baseline="-25000" dirty="0"/>
                  <a:t>2 </a:t>
                </a:r>
                <a:r>
                  <a:rPr lang="ru-RU" sz="2600" dirty="0"/>
                  <a:t>]. На второй итерации </a:t>
                </a:r>
                <a:r>
                  <a:rPr lang="en-US" sz="2600" dirty="0"/>
                  <a:t>x</a:t>
                </a:r>
                <a:r>
                  <a:rPr lang="ru-RU" sz="2600" baseline="-25000" dirty="0"/>
                  <a:t>2 </a:t>
                </a:r>
                <a:r>
                  <a:rPr lang="ru-RU" sz="2600" dirty="0"/>
                  <a:t>полагаем равным </a:t>
                </a:r>
                <a:r>
                  <a:rPr lang="en-US" sz="2600" dirty="0"/>
                  <a:t>x</a:t>
                </a:r>
                <a:r>
                  <a:rPr lang="ru-RU" sz="2600" baseline="-25000" dirty="0"/>
                  <a:t>1 </a:t>
                </a:r>
                <a:r>
                  <a:rPr lang="ru-RU" sz="2600" dirty="0"/>
                  <a:t>, а </a:t>
                </a:r>
                <a:r>
                  <a:rPr lang="en-US" sz="2600" dirty="0"/>
                  <a:t>x</a:t>
                </a:r>
                <a:r>
                  <a:rPr lang="ru-RU" sz="2600" baseline="-25000" dirty="0"/>
                  <a:t>1 </a:t>
                </a:r>
                <a:r>
                  <a:rPr lang="ru-RU" sz="2600" dirty="0"/>
                  <a:t>вычисляем по формуле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sz="2600" dirty="0"/>
                  <a:t>x</a:t>
                </a:r>
                <a:r>
                  <a:rPr lang="ru-RU" sz="2600" baseline="-25000" dirty="0"/>
                  <a:t>1</a:t>
                </a:r>
                <a:r>
                  <a:rPr lang="ru-RU" sz="2600" dirty="0"/>
                  <a:t>=</a:t>
                </a:r>
                <a:r>
                  <a:rPr lang="en-US" sz="2600" dirty="0"/>
                  <a:t>a</a:t>
                </a:r>
                <a:r>
                  <a:rPr lang="ru-RU" sz="2600" dirty="0"/>
                  <a:t>+0,382(</a:t>
                </a:r>
                <a:r>
                  <a:rPr lang="en-US" sz="2600" dirty="0"/>
                  <a:t>x</a:t>
                </a:r>
                <a:r>
                  <a:rPr lang="ru-RU" sz="2600" baseline="-25000" dirty="0"/>
                  <a:t>2</a:t>
                </a:r>
                <a:r>
                  <a:rPr lang="ru-RU" sz="2600" dirty="0"/>
                  <a:t>-</a:t>
                </a:r>
                <a:r>
                  <a:rPr lang="en-US" sz="2600" dirty="0"/>
                  <a:t>a</a:t>
                </a:r>
                <a:r>
                  <a:rPr lang="ru-RU" sz="2600" dirty="0"/>
                  <a:t>). Значение функции вычисляется только в точке </a:t>
                </a:r>
                <a:r>
                  <a:rPr lang="en-US" sz="2600" dirty="0"/>
                  <a:t>x</a:t>
                </a:r>
                <a:r>
                  <a:rPr lang="ru-RU" sz="2600" baseline="-25000" dirty="0"/>
                  <a:t>1</a:t>
                </a:r>
                <a:r>
                  <a:rPr lang="ru-RU" sz="2600" dirty="0"/>
                  <a:t>, </a:t>
                </a:r>
                <a:r>
                  <a:rPr lang="ru-RU" sz="2600" dirty="0" smtClean="0"/>
                  <a:t>так </a:t>
                </a:r>
                <a:r>
                  <a:rPr lang="ru-RU" sz="2600" dirty="0"/>
                  <a:t>как значение функции в </a:t>
                </a:r>
                <a:r>
                  <a:rPr lang="en-US" sz="2600" dirty="0"/>
                  <a:t>x</a:t>
                </a:r>
                <a:r>
                  <a:rPr lang="ru-RU" sz="2600" baseline="-25000" dirty="0"/>
                  <a:t>2 </a:t>
                </a:r>
                <a:r>
                  <a:rPr lang="ru-RU" sz="2600" dirty="0"/>
                  <a:t>уже было вычислено на предыдущем шаге. </a:t>
                </a:r>
              </a:p>
              <a:p>
                <a:pPr marL="0" lvl="0" indent="0">
                  <a:spcBef>
                    <a:spcPts val="0"/>
                  </a:spcBef>
                  <a:buNone/>
                </a:pPr>
                <a:r>
                  <a:rPr lang="ru-RU" sz="2600" dirty="0"/>
                  <a:t>Если  f(x</a:t>
                </a:r>
                <a:r>
                  <a:rPr lang="ru-RU" sz="2600" baseline="-25000" dirty="0"/>
                  <a:t>1</a:t>
                </a:r>
                <a:r>
                  <a:rPr lang="ru-RU" sz="2600" dirty="0"/>
                  <a:t>)</a:t>
                </a:r>
                <a:r>
                  <a:rPr lang="ru-RU" sz="2800" dirty="0"/>
                  <a:t> </a:t>
                </a:r>
                <a14:m>
                  <m:oMath xmlns:m="http://schemas.openxmlformats.org/officeDocument/2006/math">
                    <m:r>
                      <a:rPr lang="ru-RU" sz="2800" i="1">
                        <a:latin typeface="Cambria Math"/>
                      </a:rPr>
                      <m:t>≥ </m:t>
                    </m:r>
                  </m:oMath>
                </a14:m>
                <a:r>
                  <a:rPr lang="ru-RU" sz="2600" dirty="0"/>
                  <a:t>f(x</a:t>
                </a:r>
                <a:r>
                  <a:rPr lang="ru-RU" sz="2600" baseline="-25000" dirty="0"/>
                  <a:t>2</a:t>
                </a:r>
                <a:r>
                  <a:rPr lang="ru-RU" sz="2600" dirty="0"/>
                  <a:t>), то оставляем отрезок </a:t>
                </a:r>
                <a:r>
                  <a:rPr lang="ru-RU" sz="2600" dirty="0" smtClean="0"/>
                  <a:t>[</a:t>
                </a:r>
                <a:r>
                  <a:rPr lang="en-US" sz="2800" dirty="0"/>
                  <a:t>x</a:t>
                </a:r>
                <a:r>
                  <a:rPr lang="ru-RU" sz="2800" baseline="-25000" dirty="0"/>
                  <a:t>1</a:t>
                </a:r>
                <a:r>
                  <a:rPr lang="ru-RU" sz="2800" dirty="0"/>
                  <a:t>,</a:t>
                </a:r>
                <a:r>
                  <a:rPr lang="en-US" sz="2800" dirty="0"/>
                  <a:t>b</a:t>
                </a:r>
                <a:r>
                  <a:rPr lang="ru-RU" sz="2600" dirty="0" smtClean="0"/>
                  <a:t> </a:t>
                </a:r>
                <a:r>
                  <a:rPr lang="ru-RU" sz="2600" dirty="0"/>
                  <a:t>]. На второй итерации x1 полагаем равным x</a:t>
                </a:r>
                <a:r>
                  <a:rPr lang="ru-RU" sz="2600" baseline="-25000" dirty="0"/>
                  <a:t>2</a:t>
                </a:r>
                <a:r>
                  <a:rPr lang="ru-RU" sz="2600" dirty="0"/>
                  <a:t> , а x</a:t>
                </a:r>
                <a:r>
                  <a:rPr lang="ru-RU" sz="2600" baseline="-25000" dirty="0"/>
                  <a:t>2</a:t>
                </a:r>
                <a:r>
                  <a:rPr lang="ru-RU" sz="2600" dirty="0"/>
                  <a:t> вычисляем по формуле x</a:t>
                </a:r>
                <a:r>
                  <a:rPr lang="ru-RU" sz="2600" baseline="-25000" dirty="0"/>
                  <a:t>2</a:t>
                </a:r>
                <a:r>
                  <a:rPr lang="ru-RU" sz="2600" dirty="0"/>
                  <a:t>=a+0,618(b-x1). Значение функции вычисляется только в точке x</a:t>
                </a:r>
                <a:r>
                  <a:rPr lang="ru-RU" sz="2600" baseline="-25000" dirty="0"/>
                  <a:t>2</a:t>
                </a:r>
                <a:r>
                  <a:rPr lang="ru-RU" sz="2600" dirty="0"/>
                  <a:t>, так как значение функции в x</a:t>
                </a:r>
                <a:r>
                  <a:rPr lang="ru-RU" sz="2600" baseline="-25000" dirty="0"/>
                  <a:t>1</a:t>
                </a:r>
                <a:r>
                  <a:rPr lang="ru-RU" sz="2600" dirty="0"/>
                  <a:t> уже было вычислено на предыдущем шаге.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ru-RU" sz="2600" dirty="0"/>
                  <a:t>Вычисления продолжают до тех пор, пока длина интервала не станет меньше требуемой точности</a:t>
                </a:r>
                <a:r>
                  <a:rPr lang="ru-RU" sz="2600" dirty="0" smtClean="0"/>
                  <a:t>.</a:t>
                </a:r>
                <a:endParaRPr lang="ru-RU" sz="26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116632"/>
                <a:ext cx="8928992" cy="6552728"/>
              </a:xfrm>
              <a:blipFill rotWithShape="0">
                <a:blip r:embed="rId2"/>
                <a:stretch>
                  <a:fillRect l="-1434" t="-744" r="-1913" b="-15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476F5-063E-4471-BCA9-C39FAA22CFBE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3417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ru-RU" b="1" i="1" dirty="0">
                <a:solidFill>
                  <a:srgbClr val="FF0000"/>
                </a:solidFill>
              </a:rPr>
              <a:t>Метод </a:t>
            </a:r>
            <a:r>
              <a:rPr lang="ru-RU" b="1" i="1" dirty="0" smtClean="0">
                <a:solidFill>
                  <a:srgbClr val="FF0000"/>
                </a:solidFill>
              </a:rPr>
              <a:t>Фибоначчи</a:t>
            </a:r>
            <a:endParaRPr lang="ru-R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548680"/>
                <a:ext cx="8784976" cy="6192688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ru-RU" dirty="0"/>
                  <a:t>Последовательность чисел Фибоначчи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/>
                              </a:rPr>
                              <m:t>𝐹</m:t>
                            </m:r>
                          </m:e>
                          <m:sub>
                            <m:r>
                              <a:rPr lang="ru-RU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ru-RU" i="1">
                        <a:latin typeface="Cambria Math"/>
                      </a:rPr>
                      <m:t>, </m:t>
                    </m:r>
                  </m:oMath>
                </a14:m>
                <a:r>
                  <a:rPr lang="en-US" dirty="0"/>
                  <a:t>n</a:t>
                </a:r>
                <a:r>
                  <a:rPr lang="ru-RU" dirty="0"/>
                  <a:t>=1,2,3,… подчиняется соотношению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𝑛</m:t>
                        </m:r>
                        <m:r>
                          <a:rPr lang="ru-RU" i="1">
                            <a:latin typeface="Cambria Math"/>
                          </a:rPr>
                          <m:t>+2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𝑛</m:t>
                        </m:r>
                        <m:r>
                          <a:rPr lang="ru-RU" i="1">
                            <a:latin typeface="Cambria Math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dirty="0"/>
                  <a:t> , 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=1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и имеет вид</a:t>
                </a:r>
              </a:p>
              <a:p>
                <a:pPr marL="0" indent="0">
                  <a:buNone/>
                </a:pPr>
                <a:r>
                  <a:rPr lang="ru-RU" dirty="0"/>
                  <a:t>1, 1,2 ,3, </a:t>
                </a:r>
                <a:r>
                  <a:rPr lang="en-US" smtClean="0"/>
                  <a:t>5</a:t>
                </a:r>
                <a:r>
                  <a:rPr lang="ru-RU" smtClean="0"/>
                  <a:t>, </a:t>
                </a:r>
                <a:r>
                  <a:rPr lang="ru-RU" dirty="0"/>
                  <a:t>8, 13, 21, 34, 55, 89, 144, 233,…</a:t>
                </a:r>
              </a:p>
              <a:p>
                <a:pPr marL="0" indent="0">
                  <a:buNone/>
                </a:pPr>
                <a:r>
                  <a:rPr lang="ru-RU" dirty="0"/>
                  <a:t>С помощью метода математической индукции можно показать, что </a:t>
                </a:r>
                <a:r>
                  <a:rPr lang="ru-RU" i="1" dirty="0"/>
                  <a:t>n</a:t>
                </a:r>
                <a:r>
                  <a:rPr lang="ru-RU" dirty="0"/>
                  <a:t>-е число Фибоначчи вычисляется по </a:t>
                </a:r>
                <a:r>
                  <a:rPr lang="ru-RU" i="1" dirty="0"/>
                  <a:t>формуле </a:t>
                </a:r>
                <a:r>
                  <a:rPr lang="ru-RU" i="1" dirty="0" err="1"/>
                  <a:t>Бинэ</a:t>
                </a:r>
                <a:r>
                  <a:rPr lang="ru-RU" i="1" dirty="0"/>
                  <a:t>:</a:t>
                </a: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ru-RU" i="1">
                                <a:latin typeface="Cambria Math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a:rPr lang="ru-RU" i="1">
                        <a:latin typeface="Cambria Math"/>
                      </a:rPr>
                      <m:t>[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i="1">
                                    <a:latin typeface="Cambria Math"/>
                                  </a:rPr>
                                  <m:t>1+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ru-RU" i="1">
                                        <a:latin typeface="Cambria Math"/>
                                      </a:rPr>
                                      <m:t>5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ru-RU" i="1">
                                    <a:latin typeface="Cambria Math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ru-RU" i="1"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ru-RU" i="1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i="1">
                                    <a:latin typeface="Cambria Math"/>
                                  </a:rPr>
                                  <m:t>1−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ru-RU" i="1">
                                        <a:latin typeface="Cambria Math"/>
                                      </a:rPr>
                                      <m:t>5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ru-RU" i="1">
                                    <a:latin typeface="Cambria Math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ru-RU" i="1"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ru-RU" i="1">
                        <a:latin typeface="Cambria Math"/>
                      </a:rPr>
                      <m:t>]</m:t>
                    </m:r>
                  </m:oMath>
                </a14:m>
                <a:r>
                  <a:rPr lang="ru-RU" dirty="0"/>
                  <a:t>,    где </a:t>
                </a:r>
                <a:r>
                  <a:rPr lang="en-US" dirty="0"/>
                  <a:t>n</a:t>
                </a:r>
                <a:r>
                  <a:rPr lang="ru-RU" dirty="0"/>
                  <a:t>=1,2,3,…</a:t>
                </a:r>
              </a:p>
              <a:p>
                <a:pPr marL="0" indent="0">
                  <a:buNone/>
                </a:pPr>
                <a:r>
                  <a:rPr lang="ru-RU" dirty="0"/>
                  <a:t> </a:t>
                </a:r>
                <a:r>
                  <a:rPr lang="ru-RU" dirty="0" smtClean="0"/>
                  <a:t>В методе Фибоначчи выбор </a:t>
                </a:r>
                <a:r>
                  <a:rPr lang="ru-RU" dirty="0"/>
                  <a:t>нового интервала неопределенности происходит по результатам сравнения функции в двух точках. Как и в методе золотого сечения, на каждой итерации, кроме первой, вычислении функции производится только в одной точке. 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548680"/>
                <a:ext cx="8784976" cy="6192688"/>
              </a:xfrm>
              <a:blipFill rotWithShape="0">
                <a:blip r:embed="rId2"/>
                <a:stretch>
                  <a:fillRect l="-1318" t="-1575" r="-1040" b="-22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476F5-063E-4471-BCA9-C39FAA22CFBE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8933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332656"/>
                <a:ext cx="8712968" cy="6336704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ru-RU" dirty="0" smtClean="0"/>
                  <a:t>В </a:t>
                </a:r>
                <a:r>
                  <a:rPr lang="ru-RU" dirty="0"/>
                  <a:t>отличие от других методов число итераций определяется сразу. Для достижения требуемой точности </a:t>
                </a:r>
                <a:r>
                  <a:rPr lang="ru-RU" dirty="0">
                    <a:sym typeface="Symbol"/>
                  </a:rPr>
                  <a:t></a:t>
                </a:r>
                <a:r>
                  <a:rPr lang="ru-RU" dirty="0"/>
                  <a:t> число итераций </a:t>
                </a:r>
                <a:r>
                  <a:rPr lang="en-US" dirty="0"/>
                  <a:t>n</a:t>
                </a:r>
                <a:r>
                  <a:rPr lang="ru-RU" dirty="0"/>
                  <a:t> следует задавать исходя из соотношения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𝑏</m:t>
                          </m:r>
                          <m:r>
                            <a:rPr lang="en-US" i="1">
                              <a:latin typeface="Cambria Math"/>
                            </a:rPr>
                            <m:t>−</m:t>
                          </m:r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num>
                        <m:den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/>
                        </a:rPr>
                        <m:t>≤</m:t>
                      </m:r>
                      <m:r>
                        <a:rPr lang="en-US" i="1">
                          <a:latin typeface="Cambria Math"/>
                        </a:rPr>
                        <m:t>𝜀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Условием окончания вычислений является выполнение заданного количества вычислений </a:t>
                </a:r>
                <a:r>
                  <a:rPr lang="en-US" dirty="0"/>
                  <a:t>n</a:t>
                </a:r>
                <a:r>
                  <a:rPr lang="ru-RU" dirty="0"/>
                  <a:t>. На первой итерации полагаем </a:t>
                </a:r>
                <a:r>
                  <a:rPr lang="en-US" dirty="0"/>
                  <a:t>k</a:t>
                </a:r>
                <a:r>
                  <a:rPr lang="ru-RU" dirty="0"/>
                  <a:t>=1 </a:t>
                </a:r>
                <a:r>
                  <a:rPr lang="en-US" dirty="0"/>
                  <a:t>b</a:t>
                </a:r>
                <a:r>
                  <a:rPr lang="ru-RU" dirty="0"/>
                  <a:t> вычисляем точки по формулам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𝑎</m:t>
                    </m:r>
                    <m:r>
                      <a:rPr lang="ru-RU" i="1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𝐹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  <m:r>
                              <a:rPr lang="ru-RU" i="1">
                                <a:latin typeface="Cambria Math"/>
                              </a:rPr>
                              <m:t>−</m:t>
                            </m:r>
                            <m:r>
                              <a:rPr lang="en-US" i="1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𝐹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  <m:r>
                              <a:rPr lang="ru-RU" i="1">
                                <a:latin typeface="Cambria Math"/>
                              </a:rPr>
                              <m:t>+1−</m:t>
                            </m:r>
                            <m:r>
                              <a:rPr lang="en-US" i="1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a:rPr lang="ru-RU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𝑏</m:t>
                    </m:r>
                    <m:r>
                      <a:rPr lang="ru-RU" i="1">
                        <a:latin typeface="Cambria Math"/>
                      </a:rPr>
                      <m:t>−</m:t>
                    </m:r>
                    <m:r>
                      <a:rPr lang="en-US" i="1">
                        <a:latin typeface="Cambria Math"/>
                      </a:rPr>
                      <m:t>𝑎</m:t>
                    </m:r>
                    <m:r>
                      <a:rPr lang="ru-RU" i="1">
                        <a:latin typeface="Cambria Math"/>
                      </a:rPr>
                      <m:t>)</m:t>
                    </m:r>
                  </m:oMath>
                </a14:m>
                <a:r>
                  <a:rPr lang="ru-RU" dirty="0"/>
                  <a:t>            (18)</a:t>
                </a:r>
              </a:p>
              <a:p>
                <a:pPr marL="0" indent="0">
                  <a:buNone/>
                </a:pPr>
                <a:r>
                  <a:rPr lang="ru-RU" dirty="0"/>
                  <a:t> 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𝑎</m:t>
                    </m:r>
                    <m:r>
                      <a:rPr lang="ru-RU" i="1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𝐹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  <m:r>
                              <a:rPr lang="ru-RU" i="1">
                                <a:latin typeface="Cambria Math"/>
                              </a:rPr>
                              <m:t>−1−</m:t>
                            </m:r>
                            <m:r>
                              <a:rPr lang="en-US" i="1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𝐹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  <m:r>
                              <a:rPr lang="ru-RU" i="1">
                                <a:latin typeface="Cambria Math"/>
                              </a:rPr>
                              <m:t>+1−</m:t>
                            </m:r>
                            <m:r>
                              <a:rPr lang="en-US" i="1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a:rPr lang="ru-RU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𝑏</m:t>
                    </m:r>
                    <m:r>
                      <a:rPr lang="ru-RU" i="1">
                        <a:latin typeface="Cambria Math"/>
                      </a:rPr>
                      <m:t>−</m:t>
                    </m:r>
                    <m:r>
                      <a:rPr lang="en-US" i="1">
                        <a:latin typeface="Cambria Math"/>
                      </a:rPr>
                      <m:t>𝑎</m:t>
                    </m:r>
                    <m:r>
                      <a:rPr lang="ru-RU" i="1">
                        <a:latin typeface="Cambria Math"/>
                      </a:rPr>
                      <m:t>)</m:t>
                    </m:r>
                  </m:oMath>
                </a14:m>
                <a:r>
                  <a:rPr lang="ru-RU" dirty="0"/>
                  <a:t>             (19)</a:t>
                </a:r>
              </a:p>
              <a:p>
                <a:pPr marL="0" indent="0">
                  <a:buNone/>
                </a:pPr>
                <a:r>
                  <a:rPr lang="ru-RU" dirty="0"/>
                  <a:t> </a:t>
                </a:r>
              </a:p>
              <a:p>
                <a:pPr marL="0" indent="0">
                  <a:buNone/>
                </a:pPr>
                <a:r>
                  <a:rPr lang="ru-RU" dirty="0"/>
                  <a:t>Затем вычисляются значение функции в этих точках. 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332656"/>
                <a:ext cx="8712968" cy="6336704"/>
              </a:xfrm>
              <a:blipFill rotWithShape="1">
                <a:blip r:embed="rId2"/>
                <a:stretch>
                  <a:fillRect l="-1259" t="-1925" r="-14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476F5-063E-4471-BCA9-C39FAA22CFBE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7238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260648"/>
                <a:ext cx="8712968" cy="6336704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ru-RU" dirty="0"/>
                  <a:t>Возможны два случая:</a:t>
                </a:r>
              </a:p>
              <a:p>
                <a:pPr marL="0" lv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u-RU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ru-RU" i="1">
                        <a:latin typeface="Cambria Math"/>
                      </a:rPr>
                      <m:t>&lt;</m:t>
                    </m:r>
                    <m:r>
                      <a:rPr lang="en-US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u-RU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dirty="0"/>
                  <a:t> - выбираем отрезок [</a:t>
                </a:r>
                <a:r>
                  <a:rPr lang="en-US" dirty="0"/>
                  <a:t>a</a:t>
                </a:r>
                <a:r>
                  <a:rPr lang="ru-RU" dirty="0"/>
                  <a:t>,</a:t>
                </a:r>
                <a:r>
                  <a:rPr lang="en-US" dirty="0"/>
                  <a:t>x</a:t>
                </a:r>
                <a:r>
                  <a:rPr lang="ru-RU" baseline="-25000" dirty="0"/>
                  <a:t>2</a:t>
                </a:r>
                <a:r>
                  <a:rPr lang="ru-RU" dirty="0"/>
                  <a:t>]. На второй итерации </a:t>
                </a:r>
                <a:r>
                  <a:rPr lang="ru-RU" dirty="0" smtClean="0"/>
                  <a:t>полагаем </a:t>
                </a:r>
                <a:r>
                  <a:rPr lang="en-US" dirty="0"/>
                  <a:t>a</a:t>
                </a:r>
                <a:r>
                  <a:rPr lang="ru-RU" baseline="-25000" dirty="0"/>
                  <a:t>1</a:t>
                </a:r>
                <a:r>
                  <a:rPr lang="ru-RU" dirty="0"/>
                  <a:t>=</a:t>
                </a:r>
                <a:r>
                  <a:rPr lang="en-US" dirty="0"/>
                  <a:t>a</a:t>
                </a:r>
                <a:r>
                  <a:rPr lang="ru-RU" dirty="0"/>
                  <a:t>, </a:t>
                </a:r>
                <a:r>
                  <a:rPr lang="en-US" dirty="0"/>
                  <a:t>b</a:t>
                </a:r>
                <a:r>
                  <a:rPr lang="ru-RU" baseline="-25000" dirty="0"/>
                  <a:t>1</a:t>
                </a:r>
                <a:r>
                  <a:rPr lang="ru-RU" dirty="0"/>
                  <a:t>=</a:t>
                </a:r>
                <a:r>
                  <a:rPr lang="en-US" dirty="0"/>
                  <a:t>x</a:t>
                </a:r>
                <a:r>
                  <a:rPr lang="ru-RU" baseline="-25000" dirty="0"/>
                  <a:t>1</a:t>
                </a:r>
                <a:r>
                  <a:rPr lang="ru-RU" dirty="0"/>
                  <a:t>, </a:t>
                </a:r>
                <a:r>
                  <a:rPr lang="en-US" dirty="0"/>
                  <a:t>x</a:t>
                </a:r>
                <a:r>
                  <a:rPr lang="ru-RU" baseline="-25000" dirty="0"/>
                  <a:t>2</a:t>
                </a:r>
                <a:r>
                  <a:rPr lang="ru-RU" dirty="0"/>
                  <a:t> равным </a:t>
                </a:r>
                <a:r>
                  <a:rPr lang="en-US" dirty="0"/>
                  <a:t>x</a:t>
                </a:r>
                <a:r>
                  <a:rPr lang="ru-RU" baseline="-25000" dirty="0"/>
                  <a:t>1</a:t>
                </a:r>
                <a:r>
                  <a:rPr lang="ru-RU" dirty="0"/>
                  <a:t>, а </a:t>
                </a:r>
                <a:r>
                  <a:rPr lang="en-US" dirty="0"/>
                  <a:t>x</a:t>
                </a:r>
                <a:r>
                  <a:rPr lang="ru-RU" baseline="-25000" dirty="0"/>
                  <a:t>1 </a:t>
                </a:r>
                <a:r>
                  <a:rPr lang="ru-RU" dirty="0"/>
                  <a:t>вычисляем по формуле (18). Значение функции вычисляется только в точке x</a:t>
                </a:r>
                <a:r>
                  <a:rPr lang="ru-RU" baseline="-25000" dirty="0"/>
                  <a:t>1</a:t>
                </a:r>
                <a:r>
                  <a:rPr lang="ru-RU" dirty="0"/>
                  <a:t>, так как значение функции в ,x</a:t>
                </a:r>
                <a:r>
                  <a:rPr lang="ru-RU" baseline="-25000" dirty="0"/>
                  <a:t>2</a:t>
                </a:r>
                <a:r>
                  <a:rPr lang="ru-RU" dirty="0"/>
                  <a:t> уже было вычислено на предыдущем шаге. И переходят к следующей итерации. </a:t>
                </a:r>
              </a:p>
              <a:p>
                <a:pPr marL="0" lv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u-RU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ru-RU" i="1">
                        <a:latin typeface="Cambria Math"/>
                      </a:rPr>
                      <m:t>≥</m:t>
                    </m:r>
                    <m:r>
                      <a:rPr lang="en-US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u-RU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dirty="0"/>
                  <a:t> - выбираем отрезок [</a:t>
                </a:r>
                <a:r>
                  <a:rPr lang="en-US" dirty="0"/>
                  <a:t>x</a:t>
                </a:r>
                <a:r>
                  <a:rPr lang="ru-RU" baseline="-25000" dirty="0"/>
                  <a:t>1</a:t>
                </a:r>
                <a:r>
                  <a:rPr lang="ru-RU" dirty="0"/>
                  <a:t>,</a:t>
                </a:r>
                <a:r>
                  <a:rPr lang="en-US" dirty="0"/>
                  <a:t>b</a:t>
                </a:r>
                <a:r>
                  <a:rPr lang="ru-RU" dirty="0"/>
                  <a:t>]. На второй итерации </a:t>
                </a:r>
                <a:r>
                  <a:rPr lang="ru-RU" dirty="0" smtClean="0"/>
                  <a:t>полагаем </a:t>
                </a:r>
                <a:r>
                  <a:rPr lang="en-US" dirty="0"/>
                  <a:t>a</a:t>
                </a:r>
                <a:r>
                  <a:rPr lang="ru-RU" baseline="-25000" dirty="0"/>
                  <a:t>1</a:t>
                </a:r>
                <a:r>
                  <a:rPr lang="ru-RU" dirty="0"/>
                  <a:t>= </a:t>
                </a:r>
                <a:r>
                  <a:rPr lang="en-US" dirty="0"/>
                  <a:t>x</a:t>
                </a:r>
                <a:r>
                  <a:rPr lang="ru-RU" baseline="-25000" dirty="0"/>
                  <a:t>1</a:t>
                </a:r>
                <a:r>
                  <a:rPr lang="ru-RU" dirty="0"/>
                  <a:t>, </a:t>
                </a:r>
                <a:r>
                  <a:rPr lang="en-US" dirty="0"/>
                  <a:t>b</a:t>
                </a:r>
                <a:r>
                  <a:rPr lang="ru-RU" baseline="-25000" dirty="0"/>
                  <a:t>1</a:t>
                </a:r>
                <a:r>
                  <a:rPr lang="ru-RU" dirty="0"/>
                  <a:t>=</a:t>
                </a:r>
                <a:r>
                  <a:rPr lang="en-US" dirty="0"/>
                  <a:t>b</a:t>
                </a:r>
                <a:r>
                  <a:rPr lang="ru-RU" dirty="0"/>
                  <a:t>, </a:t>
                </a:r>
                <a:r>
                  <a:rPr lang="en-US" dirty="0"/>
                  <a:t>x</a:t>
                </a:r>
                <a:r>
                  <a:rPr lang="ru-RU" baseline="-25000" dirty="0"/>
                  <a:t>1</a:t>
                </a:r>
                <a:r>
                  <a:rPr lang="ru-RU" dirty="0"/>
                  <a:t> равным </a:t>
                </a:r>
                <a:r>
                  <a:rPr lang="en-US" dirty="0"/>
                  <a:t>x</a:t>
                </a:r>
                <a:r>
                  <a:rPr lang="ru-RU" baseline="-25000" dirty="0"/>
                  <a:t>2</a:t>
                </a:r>
                <a:r>
                  <a:rPr lang="ru-RU" dirty="0"/>
                  <a:t>, а </a:t>
                </a:r>
                <a:r>
                  <a:rPr lang="en-US" dirty="0"/>
                  <a:t>x</a:t>
                </a:r>
                <a:r>
                  <a:rPr lang="ru-RU" baseline="-25000" dirty="0"/>
                  <a:t>2 </a:t>
                </a:r>
                <a:r>
                  <a:rPr lang="ru-RU" dirty="0"/>
                  <a:t>вычисляем по формуле (19). Значение функции вычисляется только в точке x</a:t>
                </a:r>
                <a:r>
                  <a:rPr lang="ru-RU" baseline="-25000" dirty="0"/>
                  <a:t>1</a:t>
                </a:r>
                <a:r>
                  <a:rPr lang="ru-RU" dirty="0"/>
                  <a:t>, так как значение функции в ,x</a:t>
                </a:r>
                <a:r>
                  <a:rPr lang="ru-RU" baseline="-25000" dirty="0"/>
                  <a:t>2</a:t>
                </a:r>
                <a:r>
                  <a:rPr lang="ru-RU" dirty="0"/>
                  <a:t> уже было вычислено на предыдущем шаге. И переходят к следующей итерации. </a:t>
                </a:r>
              </a:p>
              <a:p>
                <a:pPr marL="0" indent="0">
                  <a:buNone/>
                </a:pPr>
                <a:endParaRPr lang="ru-RU" dirty="0" smtClean="0"/>
              </a:p>
              <a:p>
                <a:pPr marL="0" indent="0">
                  <a:buNone/>
                </a:pPr>
                <a:r>
                  <a:rPr lang="ru-RU" dirty="0" smtClean="0"/>
                  <a:t>Вычисления </a:t>
                </a:r>
                <a:r>
                  <a:rPr lang="ru-RU" dirty="0"/>
                  <a:t>продолжают пока не будут исчерпаны все </a:t>
                </a:r>
                <a:r>
                  <a:rPr lang="en-US" dirty="0"/>
                  <a:t>n</a:t>
                </a:r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260648"/>
                <a:ext cx="8712968" cy="6336704"/>
              </a:xfrm>
              <a:blipFill rotWithShape="1">
                <a:blip r:embed="rId2"/>
                <a:stretch>
                  <a:fillRect l="-1608" t="-2502" r="-699" b="-279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476F5-063E-4471-BCA9-C39FAA22CFBE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3428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764704"/>
          </a:xfrm>
        </p:spPr>
        <p:txBody>
          <a:bodyPr>
            <a:normAutofit fontScale="90000"/>
          </a:bodyPr>
          <a:lstStyle/>
          <a:p>
            <a:r>
              <a:rPr lang="ru-RU" sz="3600" b="1" i="1" dirty="0">
                <a:solidFill>
                  <a:srgbClr val="FF0000"/>
                </a:solidFill>
              </a:rPr>
              <a:t>Методы, использующие информацию о производных целевой </a:t>
            </a:r>
            <a:r>
              <a:rPr lang="ru-RU" sz="3600" b="1" i="1" dirty="0" smtClean="0">
                <a:solidFill>
                  <a:srgbClr val="FF0000"/>
                </a:solidFill>
              </a:rPr>
              <a:t>функции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980728"/>
            <a:ext cx="8784976" cy="568863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2600" dirty="0"/>
              <a:t>Пусть теперь </a:t>
            </a:r>
            <a:r>
              <a:rPr lang="en-US" sz="2600" dirty="0"/>
              <a:t>f</a:t>
            </a:r>
            <a:r>
              <a:rPr lang="ru-RU" sz="2600" dirty="0"/>
              <a:t>(</a:t>
            </a:r>
            <a:r>
              <a:rPr lang="en-US" sz="2600" dirty="0"/>
              <a:t>x</a:t>
            </a:r>
            <a:r>
              <a:rPr lang="ru-RU" sz="2600" dirty="0"/>
              <a:t>) является дифференцируемой или дважды дифференцируемой выпуклой функцией и возможно вычисление производных </a:t>
            </a:r>
            <a:r>
              <a:rPr lang="en-US" sz="2600" dirty="0"/>
              <a:t>f</a:t>
            </a:r>
            <a:r>
              <a:rPr lang="ru-RU" sz="2600" dirty="0"/>
              <a:t>(</a:t>
            </a:r>
            <a:r>
              <a:rPr lang="en-US" sz="2600" dirty="0"/>
              <a:t>x</a:t>
            </a:r>
            <a:r>
              <a:rPr lang="ru-RU" sz="2600" dirty="0"/>
              <a:t>) в произвольно выбранных точках. В этом случае эффективность поиска точки минимума можно существенно повысить.</a:t>
            </a:r>
            <a:r>
              <a:rPr lang="ru-RU" sz="2600" i="1" dirty="0"/>
              <a:t> </a:t>
            </a:r>
            <a:endParaRPr lang="ru-RU" sz="2600" dirty="0"/>
          </a:p>
          <a:p>
            <a:pPr marL="0" indent="0">
              <a:spcBef>
                <a:spcPts val="0"/>
              </a:spcBef>
              <a:buNone/>
            </a:pPr>
            <a:r>
              <a:rPr lang="ru-RU" sz="2600" dirty="0"/>
              <a:t>Рассмотрим три метода минимизации, в которых используются значения производных целевой функции: </a:t>
            </a:r>
            <a:endParaRPr lang="en-US" sz="2600" dirty="0" smtClean="0"/>
          </a:p>
          <a:p>
            <a:pPr marL="0" indent="0">
              <a:spcBef>
                <a:spcPts val="0"/>
              </a:spcBef>
              <a:buNone/>
            </a:pPr>
            <a:endParaRPr lang="ru-RU" sz="2600" dirty="0"/>
          </a:p>
          <a:p>
            <a:pPr>
              <a:spcBef>
                <a:spcPts val="0"/>
              </a:spcBef>
            </a:pPr>
            <a:r>
              <a:rPr lang="ru-RU" sz="2600" dirty="0"/>
              <a:t>метод средней точки; </a:t>
            </a:r>
          </a:p>
          <a:p>
            <a:pPr>
              <a:spcBef>
                <a:spcPts val="0"/>
              </a:spcBef>
            </a:pPr>
            <a:r>
              <a:rPr lang="ru-RU" sz="2600" dirty="0"/>
              <a:t>метод хорд; </a:t>
            </a:r>
          </a:p>
          <a:p>
            <a:pPr>
              <a:spcBef>
                <a:spcPts val="0"/>
              </a:spcBef>
            </a:pPr>
            <a:r>
              <a:rPr lang="ru-RU" sz="2600" dirty="0"/>
              <a:t>метод Ньютона</a:t>
            </a:r>
            <a:r>
              <a:rPr lang="ru-RU" sz="2600" dirty="0" smtClean="0"/>
              <a:t>.</a:t>
            </a:r>
            <a:endParaRPr lang="ru-RU" sz="2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476F5-063E-4471-BCA9-C39FAA22CFBE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8018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467544" y="1268760"/>
                <a:ext cx="8229600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800" dirty="0"/>
                  <a:t>Из курса математического анализа известно, что для выпуклой дифференцируемой функции </a:t>
                </a:r>
                <a:r>
                  <a:rPr lang="ru-RU" sz="2800" dirty="0" smtClean="0"/>
                  <a:t>равенство</a:t>
                </a:r>
              </a:p>
              <a:p>
                <a:pPr marL="0" indent="0">
                  <a:buNone/>
                </a:pPr>
                <a:r>
                  <a:rPr lang="ru-RU" sz="2800" dirty="0" smtClean="0"/>
                  <a:t> </a:t>
                </a:r>
                <a:r>
                  <a:rPr lang="en-US" sz="2800" dirty="0"/>
                  <a:t>f </a:t>
                </a:r>
                <a:r>
                  <a:rPr lang="ru-RU" sz="2800" dirty="0"/>
                  <a:t>’(</a:t>
                </a:r>
                <a:r>
                  <a:rPr lang="en-US" sz="2800" dirty="0"/>
                  <a:t>x</a:t>
                </a:r>
                <a:r>
                  <a:rPr lang="ru-RU" sz="2800" dirty="0"/>
                  <a:t>)=0 является не только необходимым, но и достаточным условием глобального минимума. Поэтому, если известно, что является внутренней точкой отрезка , то приближенное равенство</a:t>
                </a:r>
                <a:endParaRPr lang="ru-RU" sz="2800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800" i="1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ru-RU" sz="2800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ru-RU" sz="2800" i="1">
                        <a:latin typeface="Cambria Math"/>
                      </a:rPr>
                      <m:t>(</m:t>
                    </m:r>
                    <m:r>
                      <a:rPr lang="ru-RU" sz="2800" i="1">
                        <a:latin typeface="Cambria Math"/>
                      </a:rPr>
                      <m:t>𝑥</m:t>
                    </m:r>
                    <m:r>
                      <a:rPr lang="ru-RU" sz="2800" i="1">
                        <a:latin typeface="Cambria Math"/>
                      </a:rPr>
                      <m:t>)≈0</m:t>
                    </m:r>
                  </m:oMath>
                </a14:m>
                <a:r>
                  <a:rPr lang="ru-RU" sz="2800" dirty="0"/>
                  <a:t> </a:t>
                </a:r>
                <a:r>
                  <a:rPr lang="ru-RU" sz="2800" i="1" dirty="0"/>
                  <a:t> </a:t>
                </a:r>
                <a:r>
                  <a:rPr lang="ru-RU" sz="2800" dirty="0"/>
                  <a:t>или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2800" i="1">
                                <a:latin typeface="Cambria Math"/>
                              </a:rPr>
                              <m:t>𝑓</m:t>
                            </m:r>
                          </m:e>
                          <m:sup>
                            <m:r>
                              <a:rPr lang="ru-RU" sz="2800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ru-RU" sz="2800" i="1">
                            <a:latin typeface="Cambria Math"/>
                          </a:rPr>
                          <m:t>(</m:t>
                        </m:r>
                        <m:r>
                          <a:rPr lang="ru-RU" sz="2800" i="1">
                            <a:latin typeface="Cambria Math"/>
                          </a:rPr>
                          <m:t>𝑥</m:t>
                        </m:r>
                        <m:r>
                          <a:rPr lang="ru-RU" sz="2800" i="1">
                            <a:latin typeface="Cambria Math"/>
                          </a:rPr>
                          <m:t>)</m:t>
                        </m:r>
                      </m:e>
                    </m:d>
                    <m:r>
                      <a:rPr lang="ru-RU" sz="2800" i="1">
                        <a:latin typeface="Cambria Math"/>
                      </a:rPr>
                      <m:t>≤</m:t>
                    </m:r>
                    <m:r>
                      <a:rPr lang="ru-RU" sz="2800" i="1">
                        <a:latin typeface="Cambria Math"/>
                      </a:rPr>
                      <m:t>𝜀</m:t>
                    </m:r>
                  </m:oMath>
                </a14:m>
                <a:r>
                  <a:rPr lang="ru-RU" sz="2800" dirty="0"/>
                  <a:t> может служить условием остановки вычислений в рассматриваемых трех методах.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7544" y="1268760"/>
                <a:ext cx="8229600" cy="4525963"/>
              </a:xfrm>
              <a:blipFill rotWithShape="1">
                <a:blip r:embed="rId2"/>
                <a:stretch>
                  <a:fillRect l="-1556" t="-1211" r="-2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476F5-063E-4471-BCA9-C39FAA22CFBE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857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ru-RU" b="1" i="1" dirty="0">
                <a:solidFill>
                  <a:srgbClr val="FF0000"/>
                </a:solidFill>
              </a:rPr>
              <a:t>Метод средней точки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692696"/>
            <a:ext cx="8856984" cy="597666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Будем искать минимум функции </a:t>
            </a:r>
            <a:r>
              <a:rPr lang="ru-RU" i="1" dirty="0"/>
              <a:t>f </a:t>
            </a:r>
            <a:r>
              <a:rPr lang="ru-RU" dirty="0"/>
              <a:t>(</a:t>
            </a:r>
            <a:r>
              <a:rPr lang="ru-RU" i="1" dirty="0"/>
              <a:t>x</a:t>
            </a:r>
            <a:r>
              <a:rPr lang="ru-RU" dirty="0"/>
              <a:t>), непрерывно дифференцируемой и строго унимодальной на отрезке [</a:t>
            </a:r>
            <a:r>
              <a:rPr lang="ru-RU" i="1" dirty="0" err="1"/>
              <a:t>a</a:t>
            </a:r>
            <a:r>
              <a:rPr lang="ru-RU" dirty="0" err="1"/>
              <a:t>,</a:t>
            </a:r>
            <a:r>
              <a:rPr lang="ru-RU" i="1" dirty="0" err="1"/>
              <a:t>b</a:t>
            </a:r>
            <a:r>
              <a:rPr lang="ru-RU" dirty="0"/>
              <a:t>]. 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В </a:t>
            </a:r>
            <a:r>
              <a:rPr lang="ru-RU" dirty="0"/>
              <a:t>этом случае единственной точкой </a:t>
            </a:r>
            <a:r>
              <a:rPr lang="ru-RU" i="1" dirty="0"/>
              <a:t>x</a:t>
            </a:r>
            <a:r>
              <a:rPr lang="ru-RU" dirty="0" smtClean="0"/>
              <a:t>*</a:t>
            </a:r>
            <a:r>
              <a:rPr lang="ru-RU" dirty="0" smtClean="0">
                <a:sym typeface="Symbol"/>
              </a:rPr>
              <a:t></a:t>
            </a:r>
            <a:r>
              <a:rPr lang="ru-RU" dirty="0" smtClean="0"/>
              <a:t>[</a:t>
            </a:r>
            <a:r>
              <a:rPr lang="ru-RU" i="1" dirty="0" err="1"/>
              <a:t>a</a:t>
            </a:r>
            <a:r>
              <a:rPr lang="ru-RU" dirty="0" err="1"/>
              <a:t>,</a:t>
            </a:r>
            <a:r>
              <a:rPr lang="ru-RU" i="1" dirty="0" err="1"/>
              <a:t>b</a:t>
            </a:r>
            <a:r>
              <a:rPr lang="ru-RU" dirty="0"/>
              <a:t>] минимума будет стационарная точка, в которой  </a:t>
            </a:r>
            <a:endParaRPr lang="en-US" dirty="0" smtClean="0"/>
          </a:p>
          <a:p>
            <a:pPr marL="0" indent="0">
              <a:buNone/>
            </a:pPr>
            <a:r>
              <a:rPr lang="ru-RU" i="1" dirty="0" smtClean="0"/>
              <a:t>f </a:t>
            </a:r>
            <a:r>
              <a:rPr lang="ru-RU" dirty="0"/>
              <a:t>' (</a:t>
            </a:r>
            <a:r>
              <a:rPr lang="ru-RU" i="1" dirty="0"/>
              <a:t>x</a:t>
            </a:r>
            <a:r>
              <a:rPr lang="ru-RU" dirty="0"/>
              <a:t>*) = 0 . Отметим, что непрерывно дифференцируемая унимодальная на отрезке функция может иметь на нем более одной стационарной точки. На каждом шаге на отрезке определяются две точки </a:t>
            </a:r>
            <a:r>
              <a:rPr lang="ru-RU" i="1" dirty="0" err="1"/>
              <a:t>ak</a:t>
            </a:r>
            <a:r>
              <a:rPr lang="ru-RU" i="1" dirty="0"/>
              <a:t> </a:t>
            </a:r>
            <a:r>
              <a:rPr lang="ru-RU" dirty="0"/>
              <a:t>, </a:t>
            </a:r>
            <a:r>
              <a:rPr lang="ru-RU" i="1" dirty="0" err="1"/>
              <a:t>bk</a:t>
            </a:r>
            <a:r>
              <a:rPr lang="ru-RU" i="1" dirty="0"/>
              <a:t> </a:t>
            </a:r>
            <a:r>
              <a:rPr lang="ru-RU" dirty="0"/>
              <a:t>, в которых производные имеют разные знаки, </a:t>
            </a:r>
            <a:r>
              <a:rPr lang="ru-RU" i="1" dirty="0"/>
              <a:t>f </a:t>
            </a:r>
            <a:r>
              <a:rPr lang="ru-RU" dirty="0"/>
              <a:t>' (</a:t>
            </a:r>
            <a:r>
              <a:rPr lang="ru-RU" i="1" dirty="0" err="1"/>
              <a:t>a</a:t>
            </a:r>
            <a:r>
              <a:rPr lang="ru-RU" i="1" baseline="-25000" dirty="0" err="1"/>
              <a:t>k</a:t>
            </a:r>
            <a:r>
              <a:rPr lang="ru-RU" i="1" baseline="-25000" dirty="0"/>
              <a:t> </a:t>
            </a:r>
            <a:r>
              <a:rPr lang="ru-RU" dirty="0"/>
              <a:t>) </a:t>
            </a:r>
            <a:r>
              <a:rPr lang="ru-RU" i="1" dirty="0"/>
              <a:t>f </a:t>
            </a:r>
            <a:r>
              <a:rPr lang="ru-RU" dirty="0"/>
              <a:t>' (</a:t>
            </a:r>
            <a:r>
              <a:rPr lang="ru-RU" i="1" dirty="0" err="1"/>
              <a:t>b</a:t>
            </a:r>
            <a:r>
              <a:rPr lang="ru-RU" i="1" baseline="-25000" dirty="0" err="1"/>
              <a:t>k</a:t>
            </a:r>
            <a:r>
              <a:rPr lang="ru-RU" i="1" baseline="-25000" dirty="0"/>
              <a:t> </a:t>
            </a:r>
            <a:r>
              <a:rPr lang="ru-RU" dirty="0"/>
              <a:t>) &lt; 0 . Искомый минимум находится между ними. Делим интервал пополам, из двух интервалов оставляем тот, на концах которого производная имеет разные знаки.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476F5-063E-4471-BCA9-C39FAA22CFBE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0640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652934"/>
          </a:xfrm>
        </p:spPr>
        <p:txBody>
          <a:bodyPr>
            <a:normAutofit fontScale="90000"/>
          </a:bodyPr>
          <a:lstStyle/>
          <a:p>
            <a:r>
              <a:rPr lang="ru-RU" b="1" i="1" dirty="0">
                <a:solidFill>
                  <a:srgbClr val="FF0000"/>
                </a:solidFill>
              </a:rPr>
              <a:t>Алгоритм</a:t>
            </a:r>
            <a:r>
              <a:rPr lang="en-US" b="1" i="1" dirty="0">
                <a:solidFill>
                  <a:srgbClr val="FF0000"/>
                </a:solidFill>
              </a:rPr>
              <a:t> </a:t>
            </a:r>
            <a:r>
              <a:rPr lang="ru-RU" b="1" i="1" dirty="0">
                <a:solidFill>
                  <a:srgbClr val="FF0000"/>
                </a:solidFill>
              </a:rPr>
              <a:t>м</a:t>
            </a:r>
            <a:r>
              <a:rPr lang="ru-RU" b="1" i="1" dirty="0" smtClean="0">
                <a:solidFill>
                  <a:srgbClr val="FF0000"/>
                </a:solidFill>
              </a:rPr>
              <a:t>етода </a:t>
            </a:r>
            <a:r>
              <a:rPr lang="ru-RU" b="1" i="1" dirty="0">
                <a:solidFill>
                  <a:srgbClr val="FF0000"/>
                </a:solidFill>
              </a:rPr>
              <a:t>средней точки</a:t>
            </a:r>
            <a:r>
              <a:rPr lang="en-US" dirty="0" smtClean="0"/>
              <a:t> 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908720"/>
                <a:ext cx="8712968" cy="5760640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ru-RU" dirty="0"/>
                  <a:t>Шаг 1.Определим точность </a:t>
                </a:r>
                <a:r>
                  <a:rPr lang="ru-RU" dirty="0">
                    <a:sym typeface="Symbol"/>
                  </a:rPr>
                  <a:t></a:t>
                </a:r>
                <a:r>
                  <a:rPr lang="ru-RU" dirty="0"/>
                  <a:t> &gt; 0, </a:t>
                </a:r>
                <a:r>
                  <a:rPr lang="ru-RU" i="1" dirty="0"/>
                  <a:t>a</a:t>
                </a:r>
                <a:r>
                  <a:rPr lang="ru-RU" baseline="-25000" dirty="0"/>
                  <a:t>1</a:t>
                </a:r>
                <a:r>
                  <a:rPr lang="ru-RU" dirty="0"/>
                  <a:t> = </a:t>
                </a:r>
                <a:r>
                  <a:rPr lang="ru-RU" i="1" dirty="0"/>
                  <a:t>a</a:t>
                </a:r>
                <a:r>
                  <a:rPr lang="ru-RU" dirty="0"/>
                  <a:t>, </a:t>
                </a:r>
                <a:r>
                  <a:rPr lang="ru-RU" i="1" dirty="0"/>
                  <a:t>b</a:t>
                </a:r>
                <a:r>
                  <a:rPr lang="ru-RU" baseline="-25000" dirty="0"/>
                  <a:t>1</a:t>
                </a:r>
                <a:r>
                  <a:rPr lang="ru-RU" dirty="0"/>
                  <a:t> = </a:t>
                </a:r>
                <a:r>
                  <a:rPr lang="ru-RU" i="1" dirty="0"/>
                  <a:t>b</a:t>
                </a:r>
                <a:r>
                  <a:rPr lang="ru-RU" dirty="0"/>
                  <a:t>, вычисляем</a:t>
                </a:r>
              </a:p>
              <a:p>
                <a:pPr marL="0" indent="0">
                  <a:buNone/>
                </a:pPr>
                <a:r>
                  <a:rPr lang="en-US" i="1" dirty="0"/>
                  <a:t>f </a:t>
                </a:r>
                <a:r>
                  <a:rPr lang="en-US" dirty="0"/>
                  <a:t>' (</a:t>
                </a:r>
                <a:r>
                  <a:rPr lang="en-US" i="1" dirty="0"/>
                  <a:t>a</a:t>
                </a:r>
                <a:r>
                  <a:rPr lang="en-US" baseline="-25000" dirty="0"/>
                  <a:t>1</a:t>
                </a:r>
                <a:r>
                  <a:rPr lang="en-US" dirty="0"/>
                  <a:t>) &lt; 0, </a:t>
                </a:r>
                <a:r>
                  <a:rPr lang="en-US" i="1" dirty="0"/>
                  <a:t>f </a:t>
                </a:r>
                <a:r>
                  <a:rPr lang="en-US" dirty="0"/>
                  <a:t>' (</a:t>
                </a:r>
                <a:r>
                  <a:rPr lang="en-US" i="1" dirty="0"/>
                  <a:t>b</a:t>
                </a:r>
                <a:r>
                  <a:rPr lang="en-US" baseline="-25000" dirty="0"/>
                  <a:t>1</a:t>
                </a:r>
                <a:r>
                  <a:rPr lang="en-US" dirty="0"/>
                  <a:t>) &gt; 0</a:t>
                </a: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Вычисляем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/>
                      </a:rPr>
                      <m:t>, </m:t>
                    </m:r>
                    <m:r>
                      <a:rPr lang="ru-RU" i="1">
                        <a:latin typeface="Cambria Math"/>
                      </a:rPr>
                      <m:t>𝑘</m:t>
                    </m:r>
                    <m:r>
                      <a:rPr lang="en-US" i="1">
                        <a:latin typeface="Cambria Math"/>
                      </a:rPr>
                      <m:t>=1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Шаг</a:t>
                </a:r>
                <a:r>
                  <a:rPr lang="en-US" dirty="0"/>
                  <a:t> 2 </a:t>
                </a:r>
                <a:r>
                  <a:rPr lang="ru-RU" dirty="0"/>
                  <a:t>Вычисляем </a:t>
                </a:r>
                <a:r>
                  <a:rPr lang="en-US" i="1" dirty="0"/>
                  <a:t>f </a:t>
                </a:r>
                <a:r>
                  <a:rPr lang="en-US" dirty="0"/>
                  <a:t>' (</a:t>
                </a:r>
                <a:r>
                  <a:rPr lang="en-US" i="1" dirty="0" err="1"/>
                  <a:t>x</a:t>
                </a:r>
                <a:r>
                  <a:rPr lang="en-US" i="1" baseline="-25000" dirty="0" err="1"/>
                  <a:t>k</a:t>
                </a:r>
                <a:r>
                  <a:rPr lang="en-US" i="1" dirty="0"/>
                  <a:t> </a:t>
                </a:r>
                <a:r>
                  <a:rPr lang="en-US" dirty="0"/>
                  <a:t>) , </a:t>
                </a:r>
                <a:r>
                  <a:rPr lang="ru-RU" dirty="0"/>
                  <a:t>если </a:t>
                </a:r>
                <a:r>
                  <a:rPr lang="en-US" i="1" dirty="0"/>
                  <a:t>f </a:t>
                </a:r>
                <a:r>
                  <a:rPr lang="en-US" dirty="0"/>
                  <a:t>' (</a:t>
                </a:r>
                <a:r>
                  <a:rPr lang="en-US" i="1" dirty="0" err="1"/>
                  <a:t>x</a:t>
                </a:r>
                <a:r>
                  <a:rPr lang="en-US" i="1" baseline="-25000" dirty="0" err="1"/>
                  <a:t>k</a:t>
                </a:r>
                <a:r>
                  <a:rPr lang="en-US" i="1" dirty="0"/>
                  <a:t> </a:t>
                </a:r>
                <a:r>
                  <a:rPr lang="en-US" dirty="0"/>
                  <a:t>) = 0, </a:t>
                </a:r>
                <a:r>
                  <a:rPr lang="ru-RU" dirty="0"/>
                  <a:t>или </a:t>
                </a:r>
                <a:r>
                  <a:rPr lang="en-US" i="1" dirty="0"/>
                  <a:t>f </a:t>
                </a:r>
                <a:r>
                  <a:rPr lang="en-US" dirty="0"/>
                  <a:t>' (</a:t>
                </a:r>
                <a:r>
                  <a:rPr lang="en-US" i="1" dirty="0" err="1"/>
                  <a:t>x</a:t>
                </a:r>
                <a:r>
                  <a:rPr lang="en-US" i="1" baseline="-25000" dirty="0" err="1"/>
                  <a:t>k</a:t>
                </a:r>
                <a:r>
                  <a:rPr lang="en-US" i="1" dirty="0"/>
                  <a:t> </a:t>
                </a:r>
                <a:r>
                  <a:rPr lang="en-US" dirty="0"/>
                  <a:t>) &lt; </a:t>
                </a:r>
                <a:r>
                  <a:rPr lang="en-US" dirty="0">
                    <a:sym typeface="Symbol"/>
                  </a:rPr>
                  <a:t></a:t>
                </a:r>
                <a:r>
                  <a:rPr lang="en-US" dirty="0"/>
                  <a:t> , </a:t>
                </a: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то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ru-RU" i="1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  <m:r>
                          <a:rPr lang="ru-RU" i="1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/>
                              </a:rPr>
                              <m:t>𝑏</m:t>
                            </m:r>
                          </m:e>
                          <m:sub>
                            <m:r>
                              <a:rPr lang="ru-RU" i="1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ru-RU" i="1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ru-RU" dirty="0"/>
                  <a:t> – точка минимума, конец.</a:t>
                </a:r>
              </a:p>
              <a:p>
                <a:pPr marL="0" indent="0">
                  <a:buNone/>
                </a:pPr>
                <a:r>
                  <a:rPr lang="ru-RU" dirty="0"/>
                  <a:t>Шаг 3 Если </a:t>
                </a:r>
                <a:r>
                  <a:rPr lang="ru-RU" i="1" dirty="0"/>
                  <a:t>f </a:t>
                </a:r>
                <a:r>
                  <a:rPr lang="ru-RU" dirty="0"/>
                  <a:t>' (</a:t>
                </a:r>
                <a:r>
                  <a:rPr lang="ru-RU" i="1" dirty="0" err="1"/>
                  <a:t>x</a:t>
                </a:r>
                <a:r>
                  <a:rPr lang="ru-RU" i="1" baseline="-25000" dirty="0" err="1"/>
                  <a:t>k</a:t>
                </a:r>
                <a:r>
                  <a:rPr lang="ru-RU" i="1" dirty="0"/>
                  <a:t> </a:t>
                </a:r>
                <a:r>
                  <a:rPr lang="ru-RU" dirty="0"/>
                  <a:t>) &lt; 0, то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𝑘</m:t>
                        </m:r>
                        <m:r>
                          <a:rPr lang="ru-RU" i="1">
                            <a:latin typeface="Cambria Math"/>
                          </a:rPr>
                          <m:t>+1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𝑘</m:t>
                        </m:r>
                        <m:r>
                          <a:rPr lang="ru-RU" i="1">
                            <a:latin typeface="Cambria Math"/>
                          </a:rPr>
                          <m:t>+1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dirty="0"/>
                  <a:t>, </a:t>
                </a:r>
              </a:p>
              <a:p>
                <a:pPr marL="0" indent="0">
                  <a:buNone/>
                </a:pPr>
                <a:r>
                  <a:rPr lang="ru-RU" dirty="0"/>
                  <a:t>иначе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𝑘</m:t>
                        </m:r>
                        <m:r>
                          <a:rPr lang="ru-RU" i="1">
                            <a:latin typeface="Cambria Math"/>
                          </a:rPr>
                          <m:t>+1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𝑘</m:t>
                        </m:r>
                        <m:r>
                          <a:rPr lang="ru-RU" i="1">
                            <a:latin typeface="Cambria Math"/>
                          </a:rPr>
                          <m:t>+1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Шаг 4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ru-RU" i="1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  <m:r>
                          <a:rPr lang="ru-RU" i="1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/>
                              </a:rPr>
                              <m:t>𝑏</m:t>
                            </m:r>
                          </m:e>
                          <m:sub>
                            <m:r>
                              <a:rPr lang="ru-RU" i="1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ru-RU" i="1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ru-RU" dirty="0"/>
                  <a:t> , переход на пункт 2.</a:t>
                </a:r>
              </a:p>
              <a:p>
                <a:pPr marL="0" indent="0">
                  <a:buNone/>
                </a:pPr>
                <a:r>
                  <a:rPr lang="ru-RU" dirty="0"/>
                  <a:t>Метод средней точки напоминает метод дихотомии, но сходится к искомому значению </a:t>
                </a:r>
                <a:r>
                  <a:rPr lang="en-US" i="1" dirty="0"/>
                  <a:t>х</a:t>
                </a:r>
                <a:r>
                  <a:rPr lang="ru-RU" dirty="0"/>
                  <a:t>* быстрее. 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908720"/>
                <a:ext cx="8712968" cy="5760640"/>
              </a:xfrm>
              <a:blipFill rotWithShape="1">
                <a:blip r:embed="rId2"/>
                <a:stretch>
                  <a:fillRect l="-1259" t="-19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476F5-063E-4471-BCA9-C39FAA22CFBE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9149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ru-RU" b="1" i="1" dirty="0">
                <a:solidFill>
                  <a:srgbClr val="FF0000"/>
                </a:solidFill>
              </a:rPr>
              <a:t>Метод </a:t>
            </a:r>
            <a:r>
              <a:rPr lang="ru-RU" b="1" i="1" dirty="0" smtClean="0">
                <a:solidFill>
                  <a:srgbClr val="FF0000"/>
                </a:solidFill>
              </a:rPr>
              <a:t>хорд</a:t>
            </a:r>
            <a:endParaRPr lang="ru-R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692696"/>
                <a:ext cx="8784976" cy="5976664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ru-RU" dirty="0"/>
                  <a:t>Как уже отмечалось, равенство </a:t>
                </a:r>
                <a:r>
                  <a:rPr lang="en-US" dirty="0"/>
                  <a:t>f</a:t>
                </a:r>
                <a:r>
                  <a:rPr lang="ru-RU" dirty="0"/>
                  <a:t> ’(</a:t>
                </a:r>
                <a:r>
                  <a:rPr lang="en-US" dirty="0"/>
                  <a:t>x</a:t>
                </a:r>
                <a:r>
                  <a:rPr lang="ru-RU" dirty="0"/>
                  <a:t>)=0 является необходимым и достаточным условием глобального минимума выпуклой дифференцируемой функции </a:t>
                </a:r>
                <a:r>
                  <a:rPr lang="en-US" dirty="0"/>
                  <a:t>f</a:t>
                </a:r>
                <a:r>
                  <a:rPr lang="ru-RU" dirty="0"/>
                  <a:t>(</a:t>
                </a:r>
                <a:r>
                  <a:rPr lang="en-US" dirty="0"/>
                  <a:t>x</a:t>
                </a:r>
                <a:r>
                  <a:rPr lang="ru-RU" dirty="0"/>
                  <a:t>). Если на концах отрезка [</a:t>
                </a:r>
                <a:r>
                  <a:rPr lang="en-US" dirty="0"/>
                  <a:t>a</a:t>
                </a:r>
                <a:r>
                  <a:rPr lang="ru-RU" dirty="0"/>
                  <a:t>,</a:t>
                </a:r>
                <a:r>
                  <a:rPr lang="en-US" dirty="0"/>
                  <a:t>b</a:t>
                </a:r>
                <a:r>
                  <a:rPr lang="ru-RU" dirty="0"/>
                  <a:t>] производная </a:t>
                </a:r>
                <a:r>
                  <a:rPr lang="en-US" dirty="0"/>
                  <a:t>f</a:t>
                </a:r>
                <a:r>
                  <a:rPr lang="ru-RU" dirty="0"/>
                  <a:t> ’(</a:t>
                </a:r>
                <a:r>
                  <a:rPr lang="en-US" dirty="0"/>
                  <a:t>x</a:t>
                </a:r>
                <a:r>
                  <a:rPr lang="ru-RU" dirty="0"/>
                  <a:t>) имеет разные знаки, т.е.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ru-RU" i="1">
                            <a:latin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/>
                          </a:rPr>
                          <m:t>𝑎</m:t>
                        </m:r>
                      </m:e>
                    </m:d>
                    <m:r>
                      <a:rPr lang="ru-RU" i="1">
                        <a:latin typeface="Cambria Math"/>
                      </a:rPr>
                      <m:t>∙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ru-RU" i="1">
                            <a:latin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/>
                          </a:rPr>
                          <m:t>𝑏</m:t>
                        </m:r>
                      </m:e>
                    </m:d>
                    <m:r>
                      <a:rPr lang="ru-RU" i="1">
                        <a:latin typeface="Cambria Math"/>
                      </a:rPr>
                      <m:t>&lt;0</m:t>
                    </m:r>
                  </m:oMath>
                </a14:m>
                <a:r>
                  <a:rPr lang="ru-RU" dirty="0"/>
                  <a:t>, и она непрерывна, то на интервале (</a:t>
                </a:r>
                <a:r>
                  <a:rPr lang="en-US" dirty="0"/>
                  <a:t>a</a:t>
                </a:r>
                <a:r>
                  <a:rPr lang="ru-RU" dirty="0"/>
                  <a:t>,</a:t>
                </a:r>
                <a:r>
                  <a:rPr lang="en-US" dirty="0"/>
                  <a:t>b</a:t>
                </a:r>
                <a:r>
                  <a:rPr lang="ru-RU" dirty="0"/>
                  <a:t>) найдется точка, в которой </a:t>
                </a:r>
                <a:r>
                  <a:rPr lang="en-US" dirty="0"/>
                  <a:t>f</a:t>
                </a:r>
                <a:r>
                  <a:rPr lang="ru-RU" dirty="0"/>
                  <a:t> ’(</a:t>
                </a:r>
                <a:r>
                  <a:rPr lang="en-US" dirty="0"/>
                  <a:t>x</a:t>
                </a:r>
                <a:r>
                  <a:rPr lang="ru-RU" dirty="0"/>
                  <a:t>) обращается в нуль. В этом случае поиск точки минимума на отрезке эквивалентен решению уравнения</a:t>
                </a:r>
              </a:p>
              <a:p>
                <a:pPr marL="0" indent="0">
                  <a:buNone/>
                </a:pPr>
                <a:r>
                  <a:rPr lang="ru-RU" dirty="0"/>
                  <a:t> 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ru-RU" i="1">
                            <a:latin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ru-RU" i="1">
                        <a:latin typeface="Cambria Math"/>
                      </a:rPr>
                      <m:t>=0,  </m:t>
                    </m:r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ru-RU" i="1">
                        <a:latin typeface="Cambria Math"/>
                      </a:rPr>
                      <m:t>∈(</m:t>
                    </m:r>
                    <m:r>
                      <a:rPr lang="en-US" i="1">
                        <a:latin typeface="Cambria Math"/>
                      </a:rPr>
                      <m:t>𝑎</m:t>
                    </m:r>
                    <m:r>
                      <a:rPr lang="ru-RU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𝑏</m:t>
                    </m:r>
                    <m:r>
                      <a:rPr lang="ru-RU" i="1">
                        <a:latin typeface="Cambria Math"/>
                      </a:rPr>
                      <m:t>)</m:t>
                    </m:r>
                  </m:oMath>
                </a14:m>
                <a:r>
                  <a:rPr lang="ru-RU" dirty="0"/>
                  <a:t>            (20)</a:t>
                </a:r>
              </a:p>
              <a:p>
                <a:pPr marL="0" indent="0">
                  <a:buNone/>
                </a:pPr>
                <a:r>
                  <a:rPr lang="ru-RU" b="1" dirty="0"/>
                  <a:t> </a:t>
                </a: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Таким образом, при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ru-RU" i="1">
                            <a:latin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/>
                          </a:rPr>
                          <m:t>𝑎</m:t>
                        </m:r>
                      </m:e>
                    </m:d>
                    <m:r>
                      <a:rPr lang="ru-RU" i="1">
                        <a:latin typeface="Cambria Math"/>
                      </a:rPr>
                      <m:t>∙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ru-RU" i="1">
                            <a:latin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/>
                          </a:rPr>
                          <m:t>𝑏</m:t>
                        </m:r>
                      </m:e>
                    </m:d>
                    <m:r>
                      <a:rPr lang="ru-RU" i="1">
                        <a:latin typeface="Cambria Math"/>
                      </a:rPr>
                      <m:t>&lt;0</m:t>
                    </m:r>
                  </m:oMath>
                </a14:m>
                <a:r>
                  <a:rPr lang="ru-RU" dirty="0"/>
                  <a:t>, любой приближенный метод решения уравнения (20) можно рассматривать как метод минимизации выпуклой непрерывно дифференцируемой функции </a:t>
                </a:r>
                <a:r>
                  <a:rPr lang="en-US" dirty="0"/>
                  <a:t>f</a:t>
                </a:r>
                <a:r>
                  <a:rPr lang="ru-RU" dirty="0"/>
                  <a:t>(</a:t>
                </a:r>
                <a:r>
                  <a:rPr lang="en-US" dirty="0"/>
                  <a:t>x</a:t>
                </a:r>
                <a:r>
                  <a:rPr lang="ru-RU" dirty="0"/>
                  <a:t>) на отрезке [</a:t>
                </a:r>
                <a:r>
                  <a:rPr lang="en-US" dirty="0"/>
                  <a:t>a</a:t>
                </a:r>
                <a:r>
                  <a:rPr lang="ru-RU" dirty="0"/>
                  <a:t>,</a:t>
                </a:r>
                <a:r>
                  <a:rPr lang="en-US" dirty="0"/>
                  <a:t>b</a:t>
                </a:r>
                <a:r>
                  <a:rPr lang="ru-RU" dirty="0"/>
                  <a:t>].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692696"/>
                <a:ext cx="8784976" cy="5976664"/>
              </a:xfrm>
              <a:blipFill rotWithShape="1">
                <a:blip r:embed="rId2"/>
                <a:stretch>
                  <a:fillRect l="-1248" t="-2041" b="-13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476F5-063E-4471-BCA9-C39FAA22CFBE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0190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260648"/>
                <a:ext cx="8640960" cy="6408712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ru-RU" sz="2600" dirty="0"/>
                  <a:t>Сущность приближенного решения уравнения F(x)=0 на отрезке [</a:t>
                </a:r>
                <a:r>
                  <a:rPr lang="ru-RU" sz="2600" dirty="0" err="1"/>
                  <a:t>a,b</a:t>
                </a:r>
                <a:r>
                  <a:rPr lang="ru-RU" sz="2600" dirty="0"/>
                  <a:t>] при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2600">
                        <a:latin typeface="Cambria Math"/>
                      </a:rPr>
                      <m:t>F</m:t>
                    </m:r>
                    <m:d>
                      <m:d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ru-RU" sz="2600">
                            <a:latin typeface="Cambria Math"/>
                          </a:rPr>
                          <m:t>a</m:t>
                        </m:r>
                      </m:e>
                    </m:d>
                    <m:r>
                      <a:rPr lang="ru-RU" sz="2600">
                        <a:latin typeface="Cambria Math"/>
                      </a:rPr>
                      <m:t>∙</m:t>
                    </m:r>
                    <m:r>
                      <m:rPr>
                        <m:sty m:val="p"/>
                      </m:rPr>
                      <a:rPr lang="ru-RU" sz="2600">
                        <a:latin typeface="Cambria Math"/>
                      </a:rPr>
                      <m:t>F</m:t>
                    </m:r>
                    <m:d>
                      <m:d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ru-RU" sz="2600">
                            <a:latin typeface="Cambria Math"/>
                          </a:rPr>
                          <m:t>b</m:t>
                        </m:r>
                      </m:e>
                    </m:d>
                    <m:r>
                      <a:rPr lang="ru-RU" sz="2600">
                        <a:latin typeface="Cambria Math"/>
                      </a:rPr>
                      <m:t>&lt;0</m:t>
                    </m:r>
                  </m:oMath>
                </a14:m>
                <a:r>
                  <a:rPr lang="ru-RU" sz="2600" dirty="0"/>
                  <a:t> методом хорд состоит в исключении отрезков путем определения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ru-RU" sz="2600">
                            <a:latin typeface="Cambria Math"/>
                          </a:rPr>
                          <m:t>x</m:t>
                        </m:r>
                      </m:e>
                    </m:acc>
                  </m:oMath>
                </a14:m>
                <a:r>
                  <a:rPr lang="ru-RU" sz="2600" dirty="0"/>
                  <a:t> - точки пересечения с осью OX хорды графика функции F(x) на отрезке [</a:t>
                </a:r>
                <a:r>
                  <a:rPr lang="ru-RU" sz="2600" dirty="0" err="1"/>
                  <a:t>a,b</a:t>
                </a:r>
                <a:r>
                  <a:rPr lang="ru-RU" sz="2600" dirty="0"/>
                  <a:t>], представленного на рисунке. </a:t>
                </a:r>
              </a:p>
              <a:p>
                <a:pPr marL="0" indent="0">
                  <a:buNone/>
                </a:pPr>
                <a:r>
                  <a:rPr lang="ru-RU" sz="2600" dirty="0"/>
                  <a:t>Полагая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/>
                      </a:rPr>
                      <m:t>𝐹</m:t>
                    </m:r>
                    <m:d>
                      <m:d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ru-RU" sz="26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ru-RU" sz="2600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ru-RU" sz="2600" i="1">
                        <a:latin typeface="Cambria Math"/>
                      </a:rPr>
                      <m:t>(</m:t>
                    </m:r>
                    <m:r>
                      <a:rPr lang="en-US" sz="2600" i="1">
                        <a:latin typeface="Cambria Math"/>
                      </a:rPr>
                      <m:t>𝑥</m:t>
                    </m:r>
                    <m:r>
                      <a:rPr lang="ru-RU" sz="2600" i="1">
                        <a:latin typeface="Cambria Math"/>
                      </a:rPr>
                      <m:t>)</m:t>
                    </m:r>
                  </m:oMath>
                </a14:m>
                <a:r>
                  <a:rPr lang="ru-RU" sz="2600" dirty="0"/>
                  <a:t>, запишем координату точки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ru-RU" sz="2600">
                            <a:latin typeface="Cambria Math"/>
                          </a:rPr>
                          <m:t>x</m:t>
                        </m:r>
                      </m:e>
                    </m:acc>
                  </m:oMath>
                </a14:m>
                <a:r>
                  <a:rPr lang="ru-RU" sz="2600" dirty="0"/>
                  <a:t> </a:t>
                </a:r>
              </a:p>
              <a:p>
                <a:pPr marL="0" indent="0">
                  <a:buNone/>
                </a:pPr>
                <a:r>
                  <a:rPr lang="ru-RU" sz="2600" dirty="0"/>
                  <a:t> 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ru-RU" sz="2600">
                            <a:latin typeface="Cambria Math"/>
                          </a:rPr>
                          <m:t>x</m:t>
                        </m:r>
                      </m:e>
                    </m:acc>
                    <m:r>
                      <a:rPr lang="ru-RU" sz="2600" i="1">
                        <a:latin typeface="Cambria Math"/>
                      </a:rPr>
                      <m:t>=</m:t>
                    </m:r>
                    <m:r>
                      <a:rPr lang="en-US" sz="2600" i="1">
                        <a:latin typeface="Cambria Math"/>
                      </a:rPr>
                      <m:t>𝑎</m:t>
                    </m:r>
                    <m:r>
                      <a:rPr lang="ru-RU" sz="2600" i="1"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ru-RU" sz="2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600" i="1">
                                <a:latin typeface="Cambria Math"/>
                              </a:rPr>
                              <m:t>𝑓</m:t>
                            </m:r>
                          </m:e>
                          <m:sup>
                            <m:r>
                              <a:rPr lang="ru-RU" sz="2600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ru-RU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i="1">
                                <a:latin typeface="Cambria Math"/>
                              </a:rPr>
                              <m:t>𝑎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ru-RU" sz="2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600" i="1">
                                <a:latin typeface="Cambria Math"/>
                              </a:rPr>
                              <m:t>𝑓</m:t>
                            </m:r>
                          </m:e>
                          <m:sup>
                            <m:r>
                              <a:rPr lang="ru-RU" sz="2600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ru-RU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i="1">
                                <a:latin typeface="Cambria Math"/>
                              </a:rPr>
                              <m:t>𝑎</m:t>
                            </m:r>
                          </m:e>
                        </m:d>
                        <m:r>
                          <a:rPr lang="ru-RU" sz="2600" i="1">
                            <a:latin typeface="Cambria Math"/>
                          </a:rPr>
                          <m:t>−</m:t>
                        </m:r>
                        <m:sSup>
                          <m:sSupPr>
                            <m:ctrlPr>
                              <a:rPr lang="ru-RU" sz="2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600" i="1">
                                <a:latin typeface="Cambria Math"/>
                              </a:rPr>
                              <m:t>𝑓</m:t>
                            </m:r>
                          </m:e>
                          <m:sup>
                            <m:r>
                              <a:rPr lang="ru-RU" sz="2600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ru-RU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i="1">
                                <a:latin typeface="Cambria Math"/>
                              </a:rPr>
                              <m:t>𝑏</m:t>
                            </m:r>
                          </m:e>
                        </m:d>
                      </m:den>
                    </m:f>
                    <m:r>
                      <a:rPr lang="ru-RU" sz="2600" i="1">
                        <a:latin typeface="Cambria Math"/>
                      </a:rPr>
                      <m:t>(</m:t>
                    </m:r>
                    <m:r>
                      <a:rPr lang="en-US" sz="2600" i="1">
                        <a:latin typeface="Cambria Math"/>
                      </a:rPr>
                      <m:t>𝑎</m:t>
                    </m:r>
                    <m:r>
                      <a:rPr lang="ru-RU" sz="2600" i="1">
                        <a:latin typeface="Cambria Math"/>
                      </a:rPr>
                      <m:t>−</m:t>
                    </m:r>
                    <m:r>
                      <a:rPr lang="en-US" sz="2600" i="1">
                        <a:latin typeface="Cambria Math"/>
                      </a:rPr>
                      <m:t>𝑏</m:t>
                    </m:r>
                    <m:r>
                      <a:rPr lang="ru-RU" sz="2600" i="1">
                        <a:latin typeface="Cambria Math"/>
                      </a:rPr>
                      <m:t>)</m:t>
                    </m:r>
                  </m:oMath>
                </a14:m>
                <a:r>
                  <a:rPr lang="ru-RU" sz="2600" i="1" dirty="0"/>
                  <a:t>         </a:t>
                </a:r>
                <a:r>
                  <a:rPr lang="ru-RU" sz="2600" dirty="0"/>
                  <a:t>(21)</a:t>
                </a:r>
              </a:p>
              <a:p>
                <a:pPr marL="0" indent="0">
                  <a:buNone/>
                </a:pPr>
                <a:r>
                  <a:rPr lang="ru-RU" sz="2600" dirty="0"/>
                  <a:t> </a:t>
                </a:r>
                <a:r>
                  <a:rPr lang="ru-RU" sz="2600" dirty="0" smtClean="0"/>
                  <a:t>Отрезок </a:t>
                </a:r>
                <a:r>
                  <a:rPr lang="ru-RU" sz="2600" dirty="0"/>
                  <a:t>дальнейшего поиска </a:t>
                </a:r>
                <a:endParaRPr lang="en-US" sz="2600" dirty="0" smtClean="0"/>
              </a:p>
              <a:p>
                <a:pPr marL="0" indent="0">
                  <a:buNone/>
                </a:pPr>
                <a:r>
                  <a:rPr lang="ru-RU" sz="2600" dirty="0" smtClean="0"/>
                  <a:t>точки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ru-RU" sz="2600">
                            <a:latin typeface="Cambria Math"/>
                          </a:rPr>
                          <m:t>x</m:t>
                        </m:r>
                      </m:e>
                    </m:acc>
                  </m:oMath>
                </a14:m>
                <a:r>
                  <a:rPr lang="ru-RU" sz="2600" dirty="0"/>
                  <a:t> ([</a:t>
                </a:r>
                <a:r>
                  <a:rPr lang="en-US" sz="2600" dirty="0"/>
                  <a:t>a</a:t>
                </a:r>
                <a:r>
                  <a:rPr lang="ru-RU" sz="2600" dirty="0"/>
                  <a:t>,</a:t>
                </a:r>
                <a14:m>
                  <m:oMath xmlns:m="http://schemas.openxmlformats.org/officeDocument/2006/math">
                    <m:r>
                      <a:rPr lang="ru-RU" sz="2600">
                        <a:latin typeface="Cambria Math"/>
                      </a:rPr>
                      <m:t> </m:t>
                    </m:r>
                    <m:acc>
                      <m:accPr>
                        <m:chr m:val="̃"/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ru-RU" sz="2600">
                            <a:latin typeface="Cambria Math"/>
                          </a:rPr>
                          <m:t>x</m:t>
                        </m:r>
                      </m:e>
                    </m:acc>
                  </m:oMath>
                </a14:m>
                <a:r>
                  <a:rPr lang="ru-RU" sz="2600" dirty="0"/>
                  <a:t>] или [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ru-RU" sz="2600">
                            <a:latin typeface="Cambria Math"/>
                          </a:rPr>
                          <m:t>x</m:t>
                        </m:r>
                      </m:e>
                    </m:acc>
                    <m:r>
                      <a:rPr lang="ru-RU" sz="2600" i="1">
                        <a:latin typeface="Cambria Math"/>
                      </a:rPr>
                      <m:t>,</m:t>
                    </m:r>
                    <m:r>
                      <a:rPr lang="ru-RU" sz="2600" i="1">
                        <a:latin typeface="Cambria Math"/>
                      </a:rPr>
                      <m:t>𝑏</m:t>
                    </m:r>
                    <m:r>
                      <a:rPr lang="ru-RU" sz="2600" i="1">
                        <a:latin typeface="Cambria Math"/>
                      </a:rPr>
                      <m:t>]</m:t>
                    </m:r>
                  </m:oMath>
                </a14:m>
                <a:r>
                  <a:rPr lang="ru-RU" sz="2600" dirty="0"/>
                  <a:t>) </a:t>
                </a:r>
                <a:endParaRPr lang="en-US" sz="2600" dirty="0" smtClean="0"/>
              </a:p>
              <a:p>
                <a:pPr marL="0" indent="0">
                  <a:buNone/>
                </a:pPr>
                <a:r>
                  <a:rPr lang="ru-RU" sz="2600" dirty="0" smtClean="0"/>
                  <a:t>выбирается </a:t>
                </a:r>
                <a:r>
                  <a:rPr lang="ru-RU" sz="2600" dirty="0"/>
                  <a:t>в зависимости от </a:t>
                </a:r>
                <a:endParaRPr lang="en-US" sz="2600" dirty="0" smtClean="0"/>
              </a:p>
              <a:p>
                <a:pPr marL="0" indent="0">
                  <a:buNone/>
                </a:pPr>
                <a:r>
                  <a:rPr lang="ru-RU" sz="2600" dirty="0" smtClean="0"/>
                  <a:t>знака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ru-RU" sz="2600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ru-RU" sz="2600" i="1">
                        <a:latin typeface="Cambria Math"/>
                      </a:rPr>
                      <m:t>(</m:t>
                    </m:r>
                    <m:acc>
                      <m:accPr>
                        <m:chr m:val="̃"/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600" i="1">
                            <a:latin typeface="Cambria Math"/>
                          </a:rPr>
                          <m:t>𝑥</m:t>
                        </m:r>
                        <m:r>
                          <a:rPr lang="ru-RU" sz="2600" i="1">
                            <a:latin typeface="Cambria Math"/>
                          </a:rPr>
                          <m:t>)</m:t>
                        </m:r>
                      </m:e>
                    </m:acc>
                  </m:oMath>
                </a14:m>
                <a:r>
                  <a:rPr lang="ru-RU" sz="2600" dirty="0"/>
                  <a:t> так же, как в методе </a:t>
                </a:r>
                <a:endParaRPr lang="en-US" sz="2600" dirty="0" smtClean="0"/>
              </a:p>
              <a:p>
                <a:pPr marL="0" indent="0">
                  <a:buNone/>
                </a:pPr>
                <a:r>
                  <a:rPr lang="ru-RU" sz="2600" dirty="0" smtClean="0"/>
                  <a:t>средней </a:t>
                </a:r>
                <a:r>
                  <a:rPr lang="ru-RU" sz="2600" dirty="0"/>
                  <a:t>точки. На каждой </a:t>
                </a:r>
                <a:endParaRPr lang="en-US" sz="2600" dirty="0" smtClean="0"/>
              </a:p>
              <a:p>
                <a:pPr marL="0" indent="0">
                  <a:buNone/>
                </a:pPr>
                <a:r>
                  <a:rPr lang="ru-RU" sz="2600" dirty="0" smtClean="0"/>
                  <a:t>итерации</a:t>
                </a:r>
                <a:r>
                  <a:rPr lang="ru-RU" sz="2600" dirty="0"/>
                  <a:t>, кроме первой, </a:t>
                </a:r>
                <a:endParaRPr lang="en-US" sz="2600" dirty="0" smtClean="0"/>
              </a:p>
              <a:p>
                <a:pPr marL="0" indent="0">
                  <a:buNone/>
                </a:pPr>
                <a:r>
                  <a:rPr lang="ru-RU" sz="2600" dirty="0" smtClean="0"/>
                  <a:t>необходимо </a:t>
                </a:r>
                <a:r>
                  <a:rPr lang="ru-RU" sz="2600" dirty="0"/>
                  <a:t>вычислять только </a:t>
                </a:r>
                <a:endParaRPr lang="en-US" sz="2600" dirty="0" smtClean="0"/>
              </a:p>
              <a:p>
                <a:pPr marL="0" indent="0">
                  <a:buNone/>
                </a:pPr>
                <a:r>
                  <a:rPr lang="ru-RU" sz="2600" dirty="0" smtClean="0"/>
                  <a:t>одно новое </a:t>
                </a:r>
                <a:r>
                  <a:rPr lang="ru-RU" sz="2600" dirty="0"/>
                  <a:t>значение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ru-RU" sz="2600" i="1">
                            <a:latin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600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ru-RU" sz="2600" i="1">
                        <a:latin typeface="Cambria Math"/>
                      </a:rPr>
                      <m:t>.</m:t>
                    </m:r>
                  </m:oMath>
                </a14:m>
                <a:endParaRPr lang="ru-RU" sz="2600" dirty="0"/>
              </a:p>
              <a:p>
                <a:pPr marL="0" indent="0">
                  <a:buNone/>
                </a:pPr>
                <a:endParaRPr lang="ru-RU" sz="26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260648"/>
                <a:ext cx="8640960" cy="6408712"/>
              </a:xfrm>
              <a:blipFill rotWithShape="1">
                <a:blip r:embed="rId2"/>
                <a:stretch>
                  <a:fillRect l="-1058" t="-1332" r="-494" b="-114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3356992"/>
            <a:ext cx="4376316" cy="3101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476F5-063E-4471-BCA9-C39FAA22CFBE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6313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ru-RU" b="1" i="1" dirty="0" smtClean="0">
                <a:solidFill>
                  <a:srgbClr val="FF0000"/>
                </a:solidFill>
              </a:rPr>
              <a:t>Алгоритм</a:t>
            </a:r>
            <a:r>
              <a:rPr lang="en-US" b="1" i="1" dirty="0" smtClean="0">
                <a:solidFill>
                  <a:srgbClr val="FF0000"/>
                </a:solidFill>
              </a:rPr>
              <a:t> </a:t>
            </a:r>
            <a:r>
              <a:rPr lang="ru-RU" b="1" i="1" dirty="0" smtClean="0">
                <a:solidFill>
                  <a:srgbClr val="FF0000"/>
                </a:solidFill>
              </a:rPr>
              <a:t>метода </a:t>
            </a:r>
            <a:r>
              <a:rPr lang="ru-RU" b="1" i="1" dirty="0">
                <a:solidFill>
                  <a:srgbClr val="FF0000"/>
                </a:solidFill>
              </a:rPr>
              <a:t>хорд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556792"/>
                <a:ext cx="8856984" cy="511256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sz="2800" dirty="0" smtClean="0"/>
                  <a:t>Шаг 1. Находим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/>
                          </a:rPr>
                          <m:t>𝑥</m:t>
                        </m:r>
                      </m:e>
                    </m:acc>
                  </m:oMath>
                </a14:m>
                <a:r>
                  <a:rPr lang="ru-RU" sz="2800" dirty="0"/>
                  <a:t> по формуле (21). Вычисляем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ru-RU" sz="2800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ru-RU" sz="2800" i="1">
                        <a:latin typeface="Cambria Math"/>
                      </a:rPr>
                      <m:t>(</m:t>
                    </m:r>
                    <m:acc>
                      <m:accPr>
                        <m:chr m:val="̃"/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/>
                          </a:rPr>
                          <m:t>𝑥</m:t>
                        </m:r>
                      </m:e>
                    </m:acc>
                    <m:r>
                      <a:rPr lang="ru-RU" sz="2800" i="1">
                        <a:latin typeface="Cambria Math"/>
                      </a:rPr>
                      <m:t>)</m:t>
                    </m:r>
                  </m:oMath>
                </a14:m>
                <a:r>
                  <a:rPr lang="ru-RU" sz="2800" dirty="0"/>
                  <a:t>  и переходим к шагу 2.</a:t>
                </a:r>
              </a:p>
              <a:p>
                <a:pPr marL="0" indent="0">
                  <a:buNone/>
                </a:pPr>
                <a:r>
                  <a:rPr lang="ru-RU" sz="2800" dirty="0"/>
                  <a:t>Шаг 2. Проверка на окончание поиска: если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/>
                              </a:rPr>
                              <m:t>𝑓</m:t>
                            </m:r>
                          </m:e>
                          <m:sup>
                            <m:r>
                              <a:rPr lang="ru-RU" sz="2800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ru-RU" sz="2800" i="1">
                            <a:latin typeface="Cambria Math"/>
                          </a:rPr>
                          <m:t>(</m:t>
                        </m:r>
                        <m:acc>
                          <m:accPr>
                            <m:chr m:val="̃"/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/>
                              </a:rPr>
                              <m:t>𝑥</m:t>
                            </m:r>
                          </m:e>
                        </m:acc>
                        <m:r>
                          <a:rPr lang="ru-RU" sz="2800" i="1">
                            <a:latin typeface="Cambria Math"/>
                          </a:rPr>
                          <m:t>)</m:t>
                        </m:r>
                      </m:e>
                    </m:d>
                    <m:r>
                      <a:rPr lang="ru-RU" sz="2800" i="1">
                        <a:latin typeface="Cambria Math"/>
                      </a:rPr>
                      <m:t>≤</m:t>
                    </m:r>
                    <m:r>
                      <a:rPr lang="ru-RU" sz="2800" i="1">
                        <a:latin typeface="Cambria Math"/>
                      </a:rPr>
                      <m:t>𝜀</m:t>
                    </m:r>
                  </m:oMath>
                </a14:m>
                <a:r>
                  <a:rPr lang="ru-RU" sz="2800" dirty="0"/>
                  <a:t> то положить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800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ru-RU" sz="2800" i="1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ru-RU" sz="2800" i="1">
                        <a:latin typeface="Cambria Math"/>
                      </a:rPr>
                      <m:t>=</m:t>
                    </m:r>
                    <m:acc>
                      <m:accPr>
                        <m:chr m:val="̃"/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/>
                          </a:rPr>
                          <m:t>𝑥</m:t>
                        </m:r>
                      </m:e>
                    </m:acc>
                  </m:oMath>
                </a14:m>
                <a:r>
                  <a:rPr lang="ru-RU" sz="2800" dirty="0"/>
                  <a:t>,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800" i="1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ru-RU" sz="2800" i="1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ru-RU" sz="2800" i="1">
                        <a:latin typeface="Cambria Math"/>
                      </a:rPr>
                      <m:t>=</m:t>
                    </m:r>
                    <m:r>
                      <a:rPr lang="ru-RU" sz="2800" i="1">
                        <a:latin typeface="Cambria Math"/>
                      </a:rPr>
                      <m:t>𝑓</m:t>
                    </m:r>
                    <m:r>
                      <a:rPr lang="ru-RU" sz="2800" i="1">
                        <a:latin typeface="Cambria Math"/>
                      </a:rPr>
                      <m:t>(</m:t>
                    </m:r>
                    <m:acc>
                      <m:accPr>
                        <m:chr m:val="̃"/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/>
                          </a:rPr>
                          <m:t>𝑥</m:t>
                        </m:r>
                      </m:e>
                    </m:acc>
                    <m:r>
                      <a:rPr lang="ru-RU" sz="2800" i="1">
                        <a:latin typeface="Cambria Math"/>
                      </a:rPr>
                      <m:t>)</m:t>
                    </m:r>
                  </m:oMath>
                </a14:m>
                <a:r>
                  <a:rPr lang="ru-RU" sz="2800" dirty="0"/>
                  <a:t> , и завершить поиск, иначе перейти к шагу 3.</a:t>
                </a:r>
              </a:p>
              <a:p>
                <a:pPr marL="0" indent="0">
                  <a:buNone/>
                </a:pPr>
                <a:r>
                  <a:rPr lang="ru-RU" sz="2800" dirty="0"/>
                  <a:t>Шаг 3. Переход к новому отрезку. Если </a:t>
                </a:r>
                <a14:m>
                  <m:oMath xmlns:m="http://schemas.openxmlformats.org/officeDocument/2006/math">
                    <m:r>
                      <a:rPr lang="ru-RU" sz="2800" i="1">
                        <a:latin typeface="Cambria Math"/>
                      </a:rPr>
                      <m:t>𝑓</m:t>
                    </m:r>
                    <m:r>
                      <a:rPr lang="en-US" sz="2800" b="0" i="1" smtClean="0">
                        <a:latin typeface="Cambria Math"/>
                      </a:rPr>
                      <m:t>′</m:t>
                    </m:r>
                    <m:d>
                      <m:d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̃"/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ru-RU" sz="2800" i="1">
                        <a:latin typeface="Cambria Math"/>
                      </a:rPr>
                      <m:t>&gt;0</m:t>
                    </m:r>
                  </m:oMath>
                </a14:m>
                <a:r>
                  <a:rPr lang="ru-RU" sz="2800" dirty="0"/>
                  <a:t>, то положить </a:t>
                </a:r>
                <a:r>
                  <a:rPr lang="en-US" sz="2800" dirty="0"/>
                  <a:t>b</a:t>
                </a:r>
                <a:r>
                  <a:rPr lang="ru-RU" sz="2800" dirty="0"/>
                  <a:t>=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/>
                          </a:rPr>
                          <m:t>𝑥</m:t>
                        </m:r>
                      </m:e>
                    </m:acc>
                  </m:oMath>
                </a14:m>
                <a:r>
                  <a:rPr lang="ru-RU" sz="2800" dirty="0"/>
                  <a:t> 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800" i="1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ru-RU" sz="2800" i="1">
                            <a:latin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800" i="1">
                            <a:latin typeface="Cambria Math"/>
                          </a:rPr>
                          <m:t>𝑏</m:t>
                        </m:r>
                      </m:e>
                    </m:d>
                    <m:r>
                      <a:rPr lang="ru-RU" sz="28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800" i="1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ru-RU" sz="2800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ru-RU" sz="2800" i="1">
                        <a:latin typeface="Cambria Math"/>
                      </a:rPr>
                      <m:t>(</m:t>
                    </m:r>
                    <m:acc>
                      <m:accPr>
                        <m:chr m:val="̃"/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800" i="1">
                            <a:latin typeface="Cambria Math"/>
                          </a:rPr>
                          <m:t>𝑥</m:t>
                        </m:r>
                      </m:e>
                    </m:acc>
                    <m:r>
                      <a:rPr lang="ru-RU" sz="2800" i="1">
                        <a:latin typeface="Cambria Math"/>
                      </a:rPr>
                      <m:t>)</m:t>
                    </m:r>
                  </m:oMath>
                </a14:m>
                <a:r>
                  <a:rPr lang="ru-RU" sz="2800" dirty="0"/>
                  <a:t>, иначе положить </a:t>
                </a:r>
                <a:r>
                  <a:rPr lang="en-US" sz="2800" dirty="0"/>
                  <a:t>a</a:t>
                </a:r>
                <a:r>
                  <a:rPr lang="ru-RU" sz="2800" dirty="0"/>
                  <a:t>=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/>
                          </a:rPr>
                          <m:t>𝑥</m:t>
                        </m:r>
                      </m:e>
                    </m:acc>
                  </m:oMath>
                </a14:m>
                <a:r>
                  <a:rPr lang="ru-RU" sz="2800" dirty="0"/>
                  <a:t> 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800" i="1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ru-RU" sz="2800" i="1">
                            <a:latin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800" i="1">
                            <a:latin typeface="Cambria Math"/>
                          </a:rPr>
                          <m:t>𝑎</m:t>
                        </m:r>
                      </m:e>
                    </m:d>
                    <m:r>
                      <a:rPr lang="ru-RU" sz="28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800" i="1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ru-RU" sz="2800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ru-RU" sz="2800" i="1">
                        <a:latin typeface="Cambria Math"/>
                      </a:rPr>
                      <m:t>(</m:t>
                    </m:r>
                    <m:acc>
                      <m:accPr>
                        <m:chr m:val="̃"/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800" i="1">
                            <a:latin typeface="Cambria Math"/>
                          </a:rPr>
                          <m:t>𝑥</m:t>
                        </m:r>
                      </m:e>
                    </m:acc>
                    <m:r>
                      <a:rPr lang="ru-RU" sz="2800" i="1">
                        <a:latin typeface="Cambria Math"/>
                      </a:rPr>
                      <m:t>)</m:t>
                    </m:r>
                  </m:oMath>
                </a14:m>
                <a:r>
                  <a:rPr lang="ru-RU" sz="2800" dirty="0"/>
                  <a:t>. Перейти к шагу 1.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556792"/>
                <a:ext cx="8856984" cy="5112568"/>
              </a:xfrm>
              <a:blipFill rotWithShape="1">
                <a:blip r:embed="rId2"/>
                <a:stretch>
                  <a:fillRect l="-1376" t="-107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476F5-063E-4471-BCA9-C39FAA22CFBE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2099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ru-RU" b="1" i="1" dirty="0">
                <a:solidFill>
                  <a:srgbClr val="FF0000"/>
                </a:solidFill>
              </a:rPr>
              <a:t>Метод </a:t>
            </a:r>
            <a:r>
              <a:rPr lang="ru-RU" b="1" i="1" dirty="0" smtClean="0">
                <a:solidFill>
                  <a:srgbClr val="FF0000"/>
                </a:solidFill>
              </a:rPr>
              <a:t>Ньютона</a:t>
            </a:r>
            <a:endParaRPr lang="ru-R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836712"/>
                <a:ext cx="8784976" cy="5832648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ru-RU" dirty="0"/>
                  <a:t>Если выпуклая на отрезке [</a:t>
                </a:r>
                <a:r>
                  <a:rPr lang="en-US" dirty="0"/>
                  <a:t>a</a:t>
                </a:r>
                <a:r>
                  <a:rPr lang="ru-RU" dirty="0"/>
                  <a:t>,</a:t>
                </a:r>
                <a:r>
                  <a:rPr lang="en-US" dirty="0"/>
                  <a:t>b</a:t>
                </a:r>
                <a:r>
                  <a:rPr lang="ru-RU" dirty="0"/>
                  <a:t>] функция </a:t>
                </a:r>
                <a:r>
                  <a:rPr lang="en-US" dirty="0"/>
                  <a:t>f</a:t>
                </a:r>
                <a:r>
                  <a:rPr lang="ru-RU" dirty="0"/>
                  <a:t>(</a:t>
                </a:r>
                <a:r>
                  <a:rPr lang="en-US" dirty="0"/>
                  <a:t>x</a:t>
                </a:r>
                <a:r>
                  <a:rPr lang="ru-RU" dirty="0"/>
                  <a:t>) дважды непрерывно дифференцируема на этом отрезке, то точку </a:t>
                </a:r>
                <a:r>
                  <a:rPr lang="en-US" dirty="0"/>
                  <a:t>x</a:t>
                </a:r>
                <a:r>
                  <a:rPr lang="en-US" dirty="0">
                    <a:sym typeface="Symbol"/>
                  </a:rPr>
                  <a:t></a:t>
                </a:r>
                <a:r>
                  <a:rPr lang="ru-RU" dirty="0"/>
                  <a:t>[</a:t>
                </a:r>
                <a:r>
                  <a:rPr lang="en-US" dirty="0"/>
                  <a:t>a</a:t>
                </a:r>
                <a:r>
                  <a:rPr lang="ru-RU" dirty="0"/>
                  <a:t>,</a:t>
                </a:r>
                <a:r>
                  <a:rPr lang="en-US" dirty="0"/>
                  <a:t>b</a:t>
                </a:r>
                <a:r>
                  <a:rPr lang="ru-RU" dirty="0"/>
                  <a:t>] минимума этой функции можно найти, решая уравнение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ru-RU" i="1">
                            <a:latin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ru-RU" i="1">
                        <a:latin typeface="Cambria Math"/>
                      </a:rPr>
                      <m:t>=0</m:t>
                    </m:r>
                  </m:oMath>
                </a14:m>
                <a:r>
                  <a:rPr lang="ru-RU" dirty="0"/>
                  <a:t> </a:t>
                </a:r>
                <a:r>
                  <a:rPr lang="ru-RU" i="1" dirty="0"/>
                  <a:t>методом Ньютона </a:t>
                </a:r>
                <a:r>
                  <a:rPr lang="ru-RU" dirty="0"/>
                  <a:t>(другое название − метод касательных). Пусть </a:t>
                </a:r>
                <a:r>
                  <a:rPr lang="en-US" dirty="0"/>
                  <a:t>x</a:t>
                </a:r>
                <a:r>
                  <a:rPr lang="ru-RU" baseline="-25000" dirty="0"/>
                  <a:t>0</a:t>
                </a:r>
                <a:r>
                  <a:rPr lang="en-US" dirty="0">
                    <a:sym typeface="Symbol"/>
                  </a:rPr>
                  <a:t></a:t>
                </a:r>
                <a:r>
                  <a:rPr lang="ru-RU" dirty="0"/>
                  <a:t>[</a:t>
                </a:r>
                <a:r>
                  <a:rPr lang="en-US" dirty="0"/>
                  <a:t>a</a:t>
                </a:r>
                <a:r>
                  <a:rPr lang="ru-RU" dirty="0"/>
                  <a:t>,</a:t>
                </a:r>
                <a:r>
                  <a:rPr lang="en-US" dirty="0"/>
                  <a:t>b</a:t>
                </a:r>
                <a:r>
                  <a:rPr lang="ru-RU" dirty="0"/>
                  <a:t>]  − нулевое (начальное) приближение к искомой точке </a:t>
                </a:r>
                <a:r>
                  <a:rPr lang="en-US" dirty="0"/>
                  <a:t>x</a:t>
                </a:r>
                <a:r>
                  <a:rPr lang="ru-RU" dirty="0"/>
                  <a:t>*. Заменим дугу графика функции  </a:t>
                </a:r>
                <a:r>
                  <a:rPr lang="en-US" dirty="0"/>
                  <a:t>F</a:t>
                </a:r>
                <a:r>
                  <a:rPr lang="ru-RU" dirty="0"/>
                  <a:t>(</a:t>
                </a:r>
                <a:r>
                  <a:rPr lang="en-US" dirty="0"/>
                  <a:t>x</a:t>
                </a:r>
                <a:r>
                  <a:rPr lang="ru-RU" dirty="0"/>
                  <a:t>)=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ru-RU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ru-RU" i="1">
                        <a:latin typeface="Cambria Math"/>
                      </a:rPr>
                      <m:t>(</m:t>
                    </m:r>
                    <m:r>
                      <a:rPr lang="ru-RU" i="1">
                        <a:latin typeface="Cambria Math"/>
                      </a:rPr>
                      <m:t>𝑥</m:t>
                    </m:r>
                    <m:r>
                      <a:rPr lang="ru-RU" i="1">
                        <a:latin typeface="Cambria Math"/>
                      </a:rPr>
                      <m:t>)</m:t>
                    </m:r>
                  </m:oMath>
                </a14:m>
                <a:r>
                  <a:rPr lang="ru-RU" dirty="0"/>
                  <a:t> в окрестности начальной точки касательной в точке (</a:t>
                </a:r>
                <a:r>
                  <a:rPr lang="en-US" dirty="0"/>
                  <a:t>x</a:t>
                </a:r>
                <a:r>
                  <a:rPr lang="ru-RU" baseline="-25000" dirty="0"/>
                  <a:t>0</a:t>
                </a:r>
                <a:r>
                  <a:rPr lang="ru-RU" dirty="0"/>
                  <a:t>,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ru-RU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ru-RU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)</m:t>
                    </m:r>
                  </m:oMath>
                </a14:m>
                <a:r>
                  <a:rPr lang="ru-RU" dirty="0"/>
                  <a:t>). </a:t>
                </a:r>
              </a:p>
              <a:p>
                <a:pPr marL="0" indent="0">
                  <a:buNone/>
                </a:pPr>
                <a:r>
                  <a:rPr lang="ru-RU" dirty="0"/>
                  <a:t> 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𝐹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ru-RU" i="1">
                        <a:latin typeface="Cambria Math"/>
                      </a:rPr>
                      <m:t>≈</m:t>
                    </m:r>
                    <m:r>
                      <a:rPr lang="en-US" i="1">
                        <a:latin typeface="Cambria Math"/>
                      </a:rPr>
                      <m:t>𝐹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u-RU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ru-RU" i="1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𝐹</m:t>
                        </m:r>
                      </m:e>
                      <m:sup>
                        <m:r>
                          <a:rPr lang="ru-RU" i="1">
                            <a:latin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u-RU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  <m:r>
                          <a:rPr lang="ru-RU" i="1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u-RU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dirty="0"/>
                  <a:t>             (22)</a:t>
                </a:r>
              </a:p>
              <a:p>
                <a:pPr marL="0" indent="0">
                  <a:buNone/>
                </a:pPr>
                <a:r>
                  <a:rPr lang="ru-RU" dirty="0"/>
                  <a:t> </a:t>
                </a:r>
              </a:p>
              <a:p>
                <a:pPr marL="0" indent="0">
                  <a:buNone/>
                </a:pPr>
                <a:r>
                  <a:rPr lang="ru-RU" dirty="0"/>
                  <a:t>Выберем в качестве следующего приближения к </a:t>
                </a:r>
                <a:r>
                  <a:rPr lang="en-US" dirty="0"/>
                  <a:t>x</a:t>
                </a:r>
                <a:r>
                  <a:rPr lang="ru-RU" dirty="0"/>
                  <a:t>* точку </a:t>
                </a:r>
                <a:r>
                  <a:rPr lang="en-US" dirty="0"/>
                  <a:t>x</a:t>
                </a:r>
                <a:r>
                  <a:rPr lang="ru-RU" baseline="-25000" dirty="0"/>
                  <a:t>1</a:t>
                </a:r>
                <a:r>
                  <a:rPr lang="ru-RU" dirty="0"/>
                  <a:t> пересечения касательной с осью абсцисс. 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836712"/>
                <a:ext cx="8784976" cy="5832648"/>
              </a:xfrm>
              <a:blipFill rotWithShape="1">
                <a:blip r:embed="rId2"/>
                <a:stretch>
                  <a:fillRect l="-1595" t="-2717" r="-2150" b="-33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476F5-063E-4471-BCA9-C39FAA22CFBE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517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332656"/>
                <a:ext cx="8784976" cy="6264696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ru-RU" sz="2900" dirty="0"/>
                  <a:t>Приравнивая к нулю правую часть в (22), получим первый элемент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9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u-RU" sz="29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ru-RU" sz="29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ru-RU" sz="2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9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u-RU" sz="2900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ru-RU" sz="2900" i="1"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ru-RU" sz="29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900" i="1">
                            <a:latin typeface="Cambria Math"/>
                          </a:rPr>
                          <m:t>𝐹</m:t>
                        </m:r>
                        <m:r>
                          <a:rPr lang="ru-RU" sz="2900" i="1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ru-RU" sz="2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9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u-RU" sz="2900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ru-RU" sz="2900" i="1">
                            <a:latin typeface="Cambria Math"/>
                          </a:rPr>
                          <m:t>)</m:t>
                        </m:r>
                      </m:num>
                      <m:den>
                        <m:sSup>
                          <m:sSupPr>
                            <m:ctrlPr>
                              <a:rPr lang="ru-RU" sz="29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2900" i="1">
                                <a:latin typeface="Cambria Math"/>
                              </a:rPr>
                              <m:t>𝐹</m:t>
                            </m:r>
                          </m:e>
                          <m:sup>
                            <m:r>
                              <a:rPr lang="ru-RU" sz="2900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ru-RU" sz="2900" i="1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ru-RU" sz="2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9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u-RU" sz="2900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ru-RU" sz="2900" i="1">
                            <a:latin typeface="Cambria Math"/>
                          </a:rPr>
                          <m:t>)</m:t>
                        </m:r>
                      </m:den>
                    </m:f>
                  </m:oMath>
                </a14:m>
                <a:r>
                  <a:rPr lang="ru-RU" sz="2900" dirty="0"/>
                  <a:t>             (23)</a:t>
                </a:r>
              </a:p>
              <a:p>
                <a:pPr marL="0" indent="0">
                  <a:buNone/>
                </a:pPr>
                <a:r>
                  <a:rPr lang="ru-RU" sz="2900" dirty="0" smtClean="0"/>
                  <a:t>итерационной </a:t>
                </a:r>
                <a:r>
                  <a:rPr lang="ru-RU" sz="2900" dirty="0"/>
                  <a:t>последовательности {</a:t>
                </a:r>
                <a:r>
                  <a:rPr lang="en-US" sz="2900" dirty="0" err="1"/>
                  <a:t>x</a:t>
                </a:r>
                <a:r>
                  <a:rPr lang="en-US" sz="2900" baseline="-25000" dirty="0" err="1"/>
                  <a:t>k</a:t>
                </a:r>
                <a:r>
                  <a:rPr lang="ru-RU" sz="2900" dirty="0"/>
                  <a:t>}, </a:t>
                </a:r>
                <a:r>
                  <a:rPr lang="en-US" sz="2900" dirty="0"/>
                  <a:t>k</a:t>
                </a:r>
                <a:r>
                  <a:rPr lang="ru-RU" sz="2900" dirty="0"/>
                  <a:t>=1,2,… </a:t>
                </a:r>
                <a:endParaRPr lang="en-US" sz="2900" dirty="0" smtClean="0"/>
              </a:p>
              <a:p>
                <a:pPr marL="0" indent="0">
                  <a:buNone/>
                </a:pPr>
                <a:r>
                  <a:rPr lang="ru-RU" sz="2900" dirty="0" smtClean="0"/>
                  <a:t>На </a:t>
                </a:r>
                <a:r>
                  <a:rPr lang="ru-RU" sz="2900" dirty="0"/>
                  <a:t>(</a:t>
                </a:r>
                <a:r>
                  <a:rPr lang="ru-RU" sz="2900" i="1" dirty="0"/>
                  <a:t>k</a:t>
                </a:r>
                <a:r>
                  <a:rPr lang="ru-RU" sz="2900" dirty="0"/>
                  <a:t>+1)-м шаге по найденной </a:t>
                </a:r>
                <a:endParaRPr lang="en-US" sz="2900" dirty="0" smtClean="0"/>
              </a:p>
              <a:p>
                <a:pPr marL="0" indent="0">
                  <a:buNone/>
                </a:pPr>
                <a:r>
                  <a:rPr lang="ru-RU" sz="2900" dirty="0" smtClean="0"/>
                  <a:t>на </a:t>
                </a:r>
                <a:r>
                  <a:rPr lang="ru-RU" sz="2900" dirty="0"/>
                  <a:t>предыдущем шаге точке </a:t>
                </a:r>
                <a:r>
                  <a:rPr lang="ru-RU" sz="2900" i="1" dirty="0" err="1"/>
                  <a:t>x</a:t>
                </a:r>
                <a:r>
                  <a:rPr lang="ru-RU" sz="2900" i="1" baseline="-25000" dirty="0" err="1"/>
                  <a:t>k</a:t>
                </a:r>
                <a:r>
                  <a:rPr lang="ru-RU" sz="2900" i="1" dirty="0"/>
                  <a:t> </a:t>
                </a:r>
                <a:endParaRPr lang="en-US" sz="2900" i="1" dirty="0" smtClean="0"/>
              </a:p>
              <a:p>
                <a:pPr marL="0" indent="0">
                  <a:buNone/>
                </a:pPr>
                <a:r>
                  <a:rPr lang="ru-RU" sz="2900" dirty="0" smtClean="0"/>
                  <a:t>можно </a:t>
                </a:r>
                <a:r>
                  <a:rPr lang="ru-RU" sz="2900" dirty="0"/>
                  <a:t>найти точку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9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900" i="1">
                            <a:latin typeface="Cambria Math"/>
                          </a:rPr>
                          <m:t>𝑘</m:t>
                        </m:r>
                        <m:r>
                          <a:rPr lang="ru-RU" sz="2900" i="1">
                            <a:latin typeface="Cambria Math"/>
                          </a:rPr>
                          <m:t>+1</m:t>
                        </m:r>
                      </m:sub>
                    </m:sSub>
                    <m:r>
                      <a:rPr lang="ru-RU" sz="29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ru-RU" sz="2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9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900" i="1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ru-RU" sz="2900" i="1"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ru-RU" sz="29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ru-RU" sz="29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900" i="1">
                                <a:latin typeface="Cambria Math"/>
                              </a:rPr>
                              <m:t>𝑓</m:t>
                            </m:r>
                          </m:e>
                          <m:sup>
                            <m:r>
                              <a:rPr lang="ru-RU" sz="2900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ru-RU" sz="2900" i="1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ru-RU" sz="2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9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900" i="1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  <m:r>
                          <a:rPr lang="ru-RU" sz="2900" i="1">
                            <a:latin typeface="Cambria Math"/>
                          </a:rPr>
                          <m:t>)</m:t>
                        </m:r>
                      </m:num>
                      <m:den>
                        <m:sSup>
                          <m:sSupPr>
                            <m:ctrlPr>
                              <a:rPr lang="ru-RU" sz="29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2900" i="1">
                                <a:latin typeface="Cambria Math"/>
                              </a:rPr>
                              <m:t>𝑓</m:t>
                            </m:r>
                          </m:e>
                          <m:sup>
                            <m:r>
                              <a:rPr lang="ru-RU" sz="2900" i="1">
                                <a:latin typeface="Cambria Math"/>
                              </a:rPr>
                              <m:t>′′</m:t>
                            </m:r>
                          </m:sup>
                        </m:sSup>
                        <m:r>
                          <a:rPr lang="ru-RU" sz="2900" i="1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ru-RU" sz="2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9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u-RU" sz="2900" i="1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  <m:r>
                          <a:rPr lang="ru-RU" sz="2900" i="1">
                            <a:latin typeface="Cambria Math"/>
                          </a:rPr>
                          <m:t>)</m:t>
                        </m:r>
                      </m:den>
                    </m:f>
                  </m:oMath>
                </a14:m>
                <a:r>
                  <a:rPr lang="ru-RU" sz="2900" dirty="0"/>
                  <a:t>          (24)</a:t>
                </a:r>
              </a:p>
              <a:p>
                <a:pPr marL="0" indent="0">
                  <a:buNone/>
                </a:pPr>
                <a:r>
                  <a:rPr lang="ru-RU" sz="2900" dirty="0"/>
                  <a:t>Вычисления по формуле (24) </a:t>
                </a:r>
                <a:endParaRPr lang="en-US" sz="2900" dirty="0" smtClean="0"/>
              </a:p>
              <a:p>
                <a:pPr marL="0" indent="0">
                  <a:buNone/>
                </a:pPr>
                <a:r>
                  <a:rPr lang="ru-RU" sz="2900" dirty="0" smtClean="0"/>
                  <a:t>производятся </a:t>
                </a:r>
                <a:r>
                  <a:rPr lang="ru-RU" sz="2900" dirty="0"/>
                  <a:t>до тех пор, пока </a:t>
                </a:r>
                <a:endParaRPr lang="en-US" sz="2900" dirty="0" smtClean="0"/>
              </a:p>
              <a:p>
                <a:pPr marL="0" indent="0">
                  <a:buNone/>
                </a:pPr>
                <a:r>
                  <a:rPr lang="ru-RU" sz="2900" dirty="0" smtClean="0"/>
                  <a:t>не </a:t>
                </a:r>
                <a:r>
                  <a:rPr lang="ru-RU" sz="2900" dirty="0"/>
                  <a:t>выполнится неравенство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ru-RU" sz="2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sz="29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2900" i="1">
                                <a:latin typeface="Cambria Math"/>
                              </a:rPr>
                              <m:t>𝑓</m:t>
                            </m:r>
                          </m:e>
                          <m:sup>
                            <m:r>
                              <a:rPr lang="ru-RU" sz="2900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ru-RU" sz="2900" i="1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ru-RU" sz="2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9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u-RU" sz="2900" i="1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  <m:r>
                          <a:rPr lang="ru-RU" sz="2900" i="1">
                            <a:latin typeface="Cambria Math"/>
                          </a:rPr>
                          <m:t>)</m:t>
                        </m:r>
                      </m:e>
                    </m:d>
                    <m:r>
                      <a:rPr lang="ru-RU" sz="2900" i="1">
                        <a:latin typeface="Cambria Math"/>
                      </a:rPr>
                      <m:t>≤</m:t>
                    </m:r>
                    <m:r>
                      <a:rPr lang="ru-RU" sz="2900" i="1">
                        <a:latin typeface="Cambria Math"/>
                      </a:rPr>
                      <m:t>𝜀</m:t>
                    </m:r>
                  </m:oMath>
                </a14:m>
                <a:r>
                  <a:rPr lang="ru-RU" sz="2900" dirty="0"/>
                  <a:t>, после чего полагают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9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900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ru-RU" sz="2900" i="1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ru-RU" sz="2900" i="1">
                        <a:latin typeface="Cambria Math"/>
                      </a:rPr>
                      <m:t>≈</m:t>
                    </m:r>
                    <m:sSub>
                      <m:sSubPr>
                        <m:ctrlPr>
                          <a:rPr lang="ru-RU" sz="2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9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u-RU" sz="2900" i="1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2900" dirty="0"/>
                  <a:t>, </a:t>
                </a:r>
                <a:r>
                  <a:rPr lang="ru-RU" sz="2900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9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900" i="1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ru-RU" sz="2900" i="1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ru-RU" sz="2900" i="1">
                        <a:latin typeface="Cambria Math"/>
                      </a:rPr>
                      <m:t>≈</m:t>
                    </m:r>
                    <m:r>
                      <a:rPr lang="ru-RU" sz="2900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ru-RU" sz="2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9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u-RU" sz="2900" i="1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ru-RU" sz="2900" i="1">
                        <a:latin typeface="Cambria Math"/>
                      </a:rPr>
                      <m:t>.</m:t>
                    </m:r>
                  </m:oMath>
                </a14:m>
                <a:endParaRPr lang="ru-RU" sz="2900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332656"/>
                <a:ext cx="8784976" cy="6264696"/>
              </a:xfrm>
              <a:blipFill rotWithShape="1">
                <a:blip r:embed="rId2"/>
                <a:stretch>
                  <a:fillRect l="-1248" t="-1461" r="-902" b="-1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624" y="2429137"/>
            <a:ext cx="4089872" cy="2944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476F5-063E-4471-BCA9-C39FAA22CFBE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2362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1371</TotalTime>
  <Words>714</Words>
  <Application>Microsoft Office PowerPoint</Application>
  <PresentationFormat>Экран (4:3)</PresentationFormat>
  <Paragraphs>143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 Math</vt:lpstr>
      <vt:lpstr>Symbol</vt:lpstr>
      <vt:lpstr>Тема Office</vt:lpstr>
      <vt:lpstr>Методы оптимизации</vt:lpstr>
      <vt:lpstr>Литература</vt:lpstr>
      <vt:lpstr>Презентация PowerPoint</vt:lpstr>
      <vt:lpstr>Прямые методы минимизации</vt:lpstr>
      <vt:lpstr>Метод деления отрезка пополам</vt:lpstr>
      <vt:lpstr>Метод золотого сечения</vt:lpstr>
      <vt:lpstr>Презентация PowerPoint</vt:lpstr>
      <vt:lpstr>Метод Фибоначчи</vt:lpstr>
      <vt:lpstr>Презентация PowerPoint</vt:lpstr>
      <vt:lpstr>Презентация PowerPoint</vt:lpstr>
      <vt:lpstr>Методы, использующие информацию о производных целевой функции</vt:lpstr>
      <vt:lpstr>Презентация PowerPoint</vt:lpstr>
      <vt:lpstr>Метод средней точки</vt:lpstr>
      <vt:lpstr>Алгоритм метода средней точки </vt:lpstr>
      <vt:lpstr>Метод хорд</vt:lpstr>
      <vt:lpstr>Презентация PowerPoint</vt:lpstr>
      <vt:lpstr>Алгоритм метода хорд </vt:lpstr>
      <vt:lpstr>Метод Ньютона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Методы оптимизации</dc:title>
  <dc:creator>Виктор</dc:creator>
  <cp:lastModifiedBy>Елена</cp:lastModifiedBy>
  <cp:revision>43</cp:revision>
  <dcterms:created xsi:type="dcterms:W3CDTF">2019-09-17T08:34:29Z</dcterms:created>
  <dcterms:modified xsi:type="dcterms:W3CDTF">2025-02-04T21:03:49Z</dcterms:modified>
</cp:coreProperties>
</file>